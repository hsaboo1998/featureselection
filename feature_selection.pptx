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7"/>
  </p:notesMasterIdLst>
  <p:sldIdLst>
    <p:sldId id="276" r:id="rId2"/>
    <p:sldId id="261" r:id="rId3"/>
    <p:sldId id="262" r:id="rId4"/>
    <p:sldId id="263" r:id="rId5"/>
    <p:sldId id="264" r:id="rId6"/>
    <p:sldId id="265" r:id="rId7"/>
    <p:sldId id="270" r:id="rId8"/>
    <p:sldId id="266" r:id="rId9"/>
    <p:sldId id="267" r:id="rId10"/>
    <p:sldId id="268" r:id="rId11"/>
    <p:sldId id="269" r:id="rId12"/>
    <p:sldId id="273" r:id="rId13"/>
    <p:sldId id="274" r:id="rId14"/>
    <p:sldId id="275"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4"/>
    <p:restoredTop sz="86642"/>
  </p:normalViewPr>
  <p:slideViewPr>
    <p:cSldViewPr snapToGrid="0">
      <p:cViewPr varScale="1">
        <p:scale>
          <a:sx n="112" d="100"/>
          <a:sy n="112" d="100"/>
        </p:scale>
        <p:origin x="216"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742877-2C4C-684E-A13B-EFC1480DAD40}" type="datetimeFigureOut">
              <a:rPr lang="en-US" smtClean="0"/>
              <a:t>7/25/26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179697-963E-9846-AE14-BE7A697D1049}" type="slidenum">
              <a:rPr lang="en-US" smtClean="0"/>
              <a:t>‹#›</a:t>
            </a:fld>
            <a:endParaRPr lang="en-US"/>
          </a:p>
        </p:txBody>
      </p:sp>
    </p:spTree>
    <p:extLst>
      <p:ext uri="{BB962C8B-B14F-4D97-AF65-F5344CB8AC3E}">
        <p14:creationId xmlns:p14="http://schemas.microsoft.com/office/powerpoint/2010/main" val="359239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Familiar topic</a:t>
            </a:r>
          </a:p>
          <a:p>
            <a:r>
              <a:rPr lang="en-US" dirty="0"/>
              <a:t>2. Only LGBM</a:t>
            </a:r>
          </a:p>
          <a:p>
            <a:r>
              <a:rPr lang="en-US" dirty="0"/>
              <a:t>3. Deep Dive</a:t>
            </a:r>
          </a:p>
        </p:txBody>
      </p:sp>
      <p:sp>
        <p:nvSpPr>
          <p:cNvPr id="4" name="Slide Number Placeholder 3"/>
          <p:cNvSpPr>
            <a:spLocks noGrp="1"/>
          </p:cNvSpPr>
          <p:nvPr>
            <p:ph type="sldNum" sz="quarter" idx="5"/>
          </p:nvPr>
        </p:nvSpPr>
        <p:spPr/>
        <p:txBody>
          <a:bodyPr/>
          <a:lstStyle/>
          <a:p>
            <a:fld id="{CB179697-963E-9846-AE14-BE7A697D1049}" type="slidenum">
              <a:rPr lang="en-US" smtClean="0"/>
              <a:t>1</a:t>
            </a:fld>
            <a:endParaRPr lang="en-US"/>
          </a:p>
        </p:txBody>
      </p:sp>
    </p:spTree>
    <p:extLst>
      <p:ext uri="{BB962C8B-B14F-4D97-AF65-F5344CB8AC3E}">
        <p14:creationId xmlns:p14="http://schemas.microsoft.com/office/powerpoint/2010/main" val="952980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Before feature selection, we need to know why we need it?</a:t>
            </a:r>
          </a:p>
          <a:p>
            <a:pPr marL="228600" indent="-228600">
              <a:buAutoNum type="arabicPeriod"/>
            </a:pPr>
            <a:r>
              <a:rPr lang="en-US" dirty="0"/>
              <a:t>Before feeding your data into these algos, we should be aware of our data</a:t>
            </a:r>
          </a:p>
          <a:p>
            <a:pPr marL="228600" indent="-228600">
              <a:buAutoNum type="arabicPeriod"/>
            </a:pPr>
            <a:r>
              <a:rPr lang="en-US" dirty="0"/>
              <a:t>Deep dive into different methods – unsupervised, supervised, filter, wrapper and embedded methods</a:t>
            </a:r>
          </a:p>
          <a:p>
            <a:pPr marL="228600" indent="-228600">
              <a:buAutoNum type="arabicPeriod"/>
            </a:pPr>
            <a:r>
              <a:rPr lang="en-US" dirty="0"/>
              <a:t>Finally, discuss an all-relevant feature selection technique – selects all features that carry even some signal about the target variable unlike previous techniques which selects minimum subset of features</a:t>
            </a:r>
          </a:p>
          <a:p>
            <a:pPr marL="228600" indent="-228600">
              <a:buAutoNum type="arabicPeriod"/>
            </a:pPr>
            <a:r>
              <a:rPr lang="en-US" dirty="0"/>
              <a:t>Finally, I will conclude it with some of my thoughts on this topic</a:t>
            </a:r>
          </a:p>
        </p:txBody>
      </p:sp>
      <p:sp>
        <p:nvSpPr>
          <p:cNvPr id="4" name="Slide Number Placeholder 3"/>
          <p:cNvSpPr>
            <a:spLocks noGrp="1"/>
          </p:cNvSpPr>
          <p:nvPr>
            <p:ph type="sldNum" sz="quarter" idx="5"/>
          </p:nvPr>
        </p:nvSpPr>
        <p:spPr/>
        <p:txBody>
          <a:bodyPr/>
          <a:lstStyle/>
          <a:p>
            <a:fld id="{CB179697-963E-9846-AE14-BE7A697D1049}" type="slidenum">
              <a:rPr lang="en-US" smtClean="0"/>
              <a:t>2</a:t>
            </a:fld>
            <a:endParaRPr lang="en-US"/>
          </a:p>
        </p:txBody>
      </p:sp>
    </p:spTree>
    <p:extLst>
      <p:ext uri="{BB962C8B-B14F-4D97-AF65-F5344CB8AC3E}">
        <p14:creationId xmlns:p14="http://schemas.microsoft.com/office/powerpoint/2010/main" val="637233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Before moving to algorithms, we should know why we need to do this activity</a:t>
            </a:r>
          </a:p>
          <a:p>
            <a:pPr marL="228600" indent="-228600">
              <a:buAutoNum type="arabicPeriod"/>
            </a:pPr>
            <a:r>
              <a:rPr lang="en-US" dirty="0"/>
              <a:t>Redundant Features</a:t>
            </a:r>
          </a:p>
          <a:p>
            <a:pPr marL="685800" lvl="1" indent="-228600">
              <a:buAutoNum type="arabicPeriod"/>
            </a:pPr>
            <a:r>
              <a:rPr lang="en-US" dirty="0"/>
              <a:t>Initially a lot of features, but not all are relevant, there are feature that carry little or no information to predict our target variable</a:t>
            </a:r>
          </a:p>
          <a:p>
            <a:pPr marL="685800" lvl="1" indent="-228600">
              <a:buAutoNum type="arabicPeriod"/>
            </a:pPr>
            <a:r>
              <a:rPr lang="en-US" dirty="0"/>
              <a:t>Correlated Features – doesn’t add any new information, affects feature explainability, hinders convergence</a:t>
            </a:r>
          </a:p>
          <a:p>
            <a:pPr marL="228600" indent="-228600">
              <a:buAutoNum type="arabicPeriod"/>
            </a:pPr>
            <a:r>
              <a:rPr lang="en-US" dirty="0"/>
              <a:t>Curse of dimensionality - Data becomes sparse, distance between datapoints almost similar, data becomes hard to model, especially algos dependent on distance metrics like some clustering techniques</a:t>
            </a:r>
          </a:p>
          <a:p>
            <a:pPr marL="228600" indent="-228600">
              <a:buAutoNum type="arabicPeriod"/>
            </a:pPr>
            <a:r>
              <a:rPr lang="en-US" dirty="0"/>
              <a:t>More features will increase training time and will be more computationally expensive. With lesser features we can experiment more</a:t>
            </a:r>
          </a:p>
          <a:p>
            <a:pPr marL="228600" indent="-228600">
              <a:buAutoNum type="arabicPeriod"/>
            </a:pPr>
            <a:r>
              <a:rPr lang="en-US" dirty="0"/>
              <a:t>Finally based on </a:t>
            </a:r>
            <a:r>
              <a:rPr lang="en-US" dirty="0" err="1"/>
              <a:t>occam</a:t>
            </a:r>
            <a:r>
              <a:rPr lang="en-US" dirty="0"/>
              <a:t> – </a:t>
            </a:r>
            <a:r>
              <a:rPr lang="en-US" dirty="0" err="1"/>
              <a:t>pluratity</a:t>
            </a:r>
            <a:r>
              <a:rPr lang="en-US" dirty="0"/>
              <a:t> should only be included when necessary, more features can overfit to noise patterns in training dataset reducing generalization power of the model</a:t>
            </a:r>
          </a:p>
        </p:txBody>
      </p:sp>
      <p:sp>
        <p:nvSpPr>
          <p:cNvPr id="4" name="Slide Number Placeholder 3"/>
          <p:cNvSpPr>
            <a:spLocks noGrp="1"/>
          </p:cNvSpPr>
          <p:nvPr>
            <p:ph type="sldNum" sz="quarter" idx="5"/>
          </p:nvPr>
        </p:nvSpPr>
        <p:spPr/>
        <p:txBody>
          <a:bodyPr/>
          <a:lstStyle/>
          <a:p>
            <a:fld id="{CB179697-963E-9846-AE14-BE7A697D1049}" type="slidenum">
              <a:rPr lang="en-US" smtClean="0"/>
              <a:t>3</a:t>
            </a:fld>
            <a:endParaRPr lang="en-US"/>
          </a:p>
        </p:txBody>
      </p:sp>
    </p:spTree>
    <p:extLst>
      <p:ext uri="{BB962C8B-B14F-4D97-AF65-F5344CB8AC3E}">
        <p14:creationId xmlns:p14="http://schemas.microsoft.com/office/powerpoint/2010/main" val="3825347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understood why we need feature selection, we should keep certain checks in mind before feeding our data to feature selection algorithms to improve our feature selection process</a:t>
            </a:r>
          </a:p>
          <a:p>
            <a:r>
              <a:rPr lang="en-US" dirty="0"/>
              <a:t>Increase cardinality – increase model size which increase computational time during inference, limit on the model size in production, seller </a:t>
            </a:r>
            <a:r>
              <a:rPr lang="en-US" dirty="0" err="1"/>
              <a:t>txn</a:t>
            </a:r>
            <a:r>
              <a:rPr lang="en-US" dirty="0"/>
              <a:t> model mitigation example</a:t>
            </a:r>
          </a:p>
          <a:p>
            <a:r>
              <a:rPr lang="en-US" dirty="0"/>
              <a:t>	Embedding – NN model</a:t>
            </a:r>
          </a:p>
          <a:p>
            <a:r>
              <a:rPr lang="en-US" dirty="0"/>
              <a:t>	Indirect Features – categories are static features, we create non-static based on transaction and volume as the fraud categories might change but the pattern remains the same</a:t>
            </a:r>
          </a:p>
          <a:p>
            <a:r>
              <a:rPr lang="en-US" dirty="0"/>
              <a:t>	Meaningful categories – based on the most loss making categories</a:t>
            </a:r>
          </a:p>
          <a:p>
            <a:r>
              <a:rPr lang="en-US" dirty="0"/>
              <a:t>Remove biased features – Significantly important very few features that is making other irrelevant, carry risk of dependence on very few features</a:t>
            </a:r>
          </a:p>
        </p:txBody>
      </p:sp>
      <p:sp>
        <p:nvSpPr>
          <p:cNvPr id="4" name="Slide Number Placeholder 3"/>
          <p:cNvSpPr>
            <a:spLocks noGrp="1"/>
          </p:cNvSpPr>
          <p:nvPr>
            <p:ph type="sldNum" sz="quarter" idx="5"/>
          </p:nvPr>
        </p:nvSpPr>
        <p:spPr/>
        <p:txBody>
          <a:bodyPr/>
          <a:lstStyle/>
          <a:p>
            <a:fld id="{CB179697-963E-9846-AE14-BE7A697D1049}" type="slidenum">
              <a:rPr lang="en-US" smtClean="0"/>
              <a:t>4</a:t>
            </a:fld>
            <a:endParaRPr lang="en-US"/>
          </a:p>
        </p:txBody>
      </p:sp>
    </p:spTree>
    <p:extLst>
      <p:ext uri="{BB962C8B-B14F-4D97-AF65-F5344CB8AC3E}">
        <p14:creationId xmlns:p14="http://schemas.microsoft.com/office/powerpoint/2010/main" val="588650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Isolation forest – tree based model, randomly splits the data, outliers require less no. of splits to be isolated</a:t>
            </a:r>
          </a:p>
        </p:txBody>
      </p:sp>
      <p:sp>
        <p:nvSpPr>
          <p:cNvPr id="4" name="Slide Number Placeholder 3"/>
          <p:cNvSpPr>
            <a:spLocks noGrp="1"/>
          </p:cNvSpPr>
          <p:nvPr>
            <p:ph type="sldNum" sz="quarter" idx="5"/>
          </p:nvPr>
        </p:nvSpPr>
        <p:spPr/>
        <p:txBody>
          <a:bodyPr/>
          <a:lstStyle/>
          <a:p>
            <a:fld id="{CB179697-963E-9846-AE14-BE7A697D1049}" type="slidenum">
              <a:rPr lang="en-US" smtClean="0"/>
              <a:t>5</a:t>
            </a:fld>
            <a:endParaRPr lang="en-US"/>
          </a:p>
        </p:txBody>
      </p:sp>
    </p:spTree>
    <p:extLst>
      <p:ext uri="{BB962C8B-B14F-4D97-AF65-F5344CB8AC3E}">
        <p14:creationId xmlns:p14="http://schemas.microsoft.com/office/powerpoint/2010/main" val="2202752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main topic, first deep dive into unsupervised methods, then supervised</a:t>
            </a:r>
          </a:p>
          <a:p>
            <a:r>
              <a:rPr lang="en-US" dirty="0"/>
              <a:t>Unsupervised used when we don’t have information about the target variable, we have to rely on feature characteristics and distribution to extract relevant features</a:t>
            </a:r>
          </a:p>
          <a:p>
            <a:r>
              <a:rPr lang="en-US" dirty="0"/>
              <a:t>Variance threshold – remove features based on spread in the dataset</a:t>
            </a:r>
          </a:p>
        </p:txBody>
      </p:sp>
      <p:sp>
        <p:nvSpPr>
          <p:cNvPr id="4" name="Slide Number Placeholder 3"/>
          <p:cNvSpPr>
            <a:spLocks noGrp="1"/>
          </p:cNvSpPr>
          <p:nvPr>
            <p:ph type="sldNum" sz="quarter" idx="5"/>
          </p:nvPr>
        </p:nvSpPr>
        <p:spPr/>
        <p:txBody>
          <a:bodyPr/>
          <a:lstStyle/>
          <a:p>
            <a:fld id="{CB179697-963E-9846-AE14-BE7A697D1049}" type="slidenum">
              <a:rPr lang="en-US" smtClean="0"/>
              <a:t>6</a:t>
            </a:fld>
            <a:endParaRPr lang="en-US"/>
          </a:p>
        </p:txBody>
      </p:sp>
    </p:spTree>
    <p:extLst>
      <p:ext uri="{BB962C8B-B14F-4D97-AF65-F5344CB8AC3E}">
        <p14:creationId xmlns:p14="http://schemas.microsoft.com/office/powerpoint/2010/main" val="3531093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PCA – will not select the most important directions if non-linear relationship</a:t>
            </a:r>
          </a:p>
          <a:p>
            <a:r>
              <a:rPr lang="en-US" dirty="0" err="1"/>
              <a:t>AutoEncoder</a:t>
            </a:r>
            <a:r>
              <a:rPr lang="en-US" dirty="0"/>
              <a:t> – Capture non linear relationships</a:t>
            </a:r>
          </a:p>
          <a:p>
            <a:r>
              <a:rPr lang="en-US" dirty="0"/>
              <a:t>Encoder – gets compressed representation and Decoder – generate back the input data from compressed representation, capturing essential information from the data while eliminating noise</a:t>
            </a:r>
          </a:p>
          <a:p>
            <a:r>
              <a:rPr lang="en-US" dirty="0" err="1"/>
              <a:t>Umap</a:t>
            </a:r>
            <a:r>
              <a:rPr lang="en-US" dirty="0"/>
              <a:t>, </a:t>
            </a:r>
            <a:r>
              <a:rPr lang="en-US" dirty="0" err="1"/>
              <a:t>tsne</a:t>
            </a:r>
            <a:r>
              <a:rPr lang="en-US" dirty="0"/>
              <a:t> – both local and global patterns in dataset</a:t>
            </a:r>
          </a:p>
        </p:txBody>
      </p:sp>
      <p:sp>
        <p:nvSpPr>
          <p:cNvPr id="4" name="Slide Number Placeholder 3"/>
          <p:cNvSpPr>
            <a:spLocks noGrp="1"/>
          </p:cNvSpPr>
          <p:nvPr>
            <p:ph type="sldNum" sz="quarter" idx="5"/>
          </p:nvPr>
        </p:nvSpPr>
        <p:spPr/>
        <p:txBody>
          <a:bodyPr/>
          <a:lstStyle/>
          <a:p>
            <a:fld id="{CB179697-963E-9846-AE14-BE7A697D1049}" type="slidenum">
              <a:rPr lang="en-US" smtClean="0"/>
              <a:t>7</a:t>
            </a:fld>
            <a:endParaRPr lang="en-US"/>
          </a:p>
        </p:txBody>
      </p:sp>
    </p:spTree>
    <p:extLst>
      <p:ext uri="{BB962C8B-B14F-4D97-AF65-F5344CB8AC3E}">
        <p14:creationId xmlns:p14="http://schemas.microsoft.com/office/powerpoint/2010/main" val="1384636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target variable information to decide the most important features</a:t>
            </a:r>
          </a:p>
          <a:p>
            <a:r>
              <a:rPr lang="en-US" dirty="0"/>
              <a:t>Depending on the datatype of input and output features we can choose our feature selection algorithm </a:t>
            </a:r>
          </a:p>
          <a:p>
            <a:r>
              <a:rPr lang="en-US" dirty="0"/>
              <a:t>Pearson – Continuous and linear relationship, homoscedasticity, normality (p-values)</a:t>
            </a:r>
          </a:p>
          <a:p>
            <a:r>
              <a:rPr lang="en-US" dirty="0"/>
              <a:t>Spearman – If data is not continuous for example ordinal or does not carry linear relationship. It rank orders the data and finds if there is a monotonic relationship in the dataset</a:t>
            </a:r>
          </a:p>
          <a:p>
            <a:r>
              <a:rPr lang="en-US" dirty="0"/>
              <a:t>Mutual Info – Measures any statistical dependence between 2 variables not just linear or monotonic. Based on entropy, how much the dependent variable carries information about the target. It divides data into bins and computes the reduction in the entropy for each bin</a:t>
            </a:r>
          </a:p>
          <a:p>
            <a:endParaRPr lang="en-US" dirty="0"/>
          </a:p>
        </p:txBody>
      </p:sp>
      <p:sp>
        <p:nvSpPr>
          <p:cNvPr id="4" name="Slide Number Placeholder 3"/>
          <p:cNvSpPr>
            <a:spLocks noGrp="1"/>
          </p:cNvSpPr>
          <p:nvPr>
            <p:ph type="sldNum" sz="quarter" idx="5"/>
          </p:nvPr>
        </p:nvSpPr>
        <p:spPr/>
        <p:txBody>
          <a:bodyPr/>
          <a:lstStyle/>
          <a:p>
            <a:fld id="{CB179697-963E-9846-AE14-BE7A697D1049}" type="slidenum">
              <a:rPr lang="en-US" smtClean="0"/>
              <a:t>8</a:t>
            </a:fld>
            <a:endParaRPr lang="en-US"/>
          </a:p>
        </p:txBody>
      </p:sp>
    </p:spTree>
    <p:extLst>
      <p:ext uri="{BB962C8B-B14F-4D97-AF65-F5344CB8AC3E}">
        <p14:creationId xmlns:p14="http://schemas.microsoft.com/office/powerpoint/2010/main" val="3346002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filter we check the relationship separately for each feature</a:t>
            </a:r>
          </a:p>
          <a:p>
            <a:r>
              <a:rPr lang="en-US" dirty="0"/>
              <a:t>Here we can test with different subset of features and decide the best combination</a:t>
            </a:r>
          </a:p>
          <a:p>
            <a:r>
              <a:rPr lang="en-US" dirty="0"/>
              <a:t>Additionally model specific methods, the results may vary depending on the underlying model which we have used</a:t>
            </a:r>
          </a:p>
          <a:p>
            <a:r>
              <a:rPr lang="en-US" dirty="0"/>
              <a:t>Backward/ Forward – train an underlying model and use cv performance to if a subset of features is important</a:t>
            </a:r>
          </a:p>
          <a:p>
            <a:r>
              <a:rPr lang="en-US" dirty="0"/>
              <a:t>Recursive – Instead of CV use underlying model feature importance to select important features and stops when reaching desired no. of features. No CV, risk of overfitting</a:t>
            </a:r>
          </a:p>
          <a:p>
            <a:r>
              <a:rPr lang="en-US" dirty="0"/>
              <a:t>RFECV – Combines RFE with CV to automatically select the no. of features. No stopping criteria. Trains multiple RFEs for different no. of features and select the best CV performance model</a:t>
            </a:r>
          </a:p>
        </p:txBody>
      </p:sp>
      <p:sp>
        <p:nvSpPr>
          <p:cNvPr id="4" name="Slide Number Placeholder 3"/>
          <p:cNvSpPr>
            <a:spLocks noGrp="1"/>
          </p:cNvSpPr>
          <p:nvPr>
            <p:ph type="sldNum" sz="quarter" idx="5"/>
          </p:nvPr>
        </p:nvSpPr>
        <p:spPr/>
        <p:txBody>
          <a:bodyPr/>
          <a:lstStyle/>
          <a:p>
            <a:fld id="{CB179697-963E-9846-AE14-BE7A697D1049}" type="slidenum">
              <a:rPr lang="en-US" smtClean="0"/>
              <a:t>9</a:t>
            </a:fld>
            <a:endParaRPr lang="en-US"/>
          </a:p>
        </p:txBody>
      </p:sp>
    </p:spTree>
    <p:extLst>
      <p:ext uri="{BB962C8B-B14F-4D97-AF65-F5344CB8AC3E}">
        <p14:creationId xmlns:p14="http://schemas.microsoft.com/office/powerpoint/2010/main" val="3811244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Wrapper we train model for multiple iterations for different subsets, whereas in embedded method the feature selection is embedded in the training process so we don’t train for multiple iterations to select important features</a:t>
            </a:r>
          </a:p>
        </p:txBody>
      </p:sp>
      <p:sp>
        <p:nvSpPr>
          <p:cNvPr id="4" name="Slide Number Placeholder 3"/>
          <p:cNvSpPr>
            <a:spLocks noGrp="1"/>
          </p:cNvSpPr>
          <p:nvPr>
            <p:ph type="sldNum" sz="quarter" idx="5"/>
          </p:nvPr>
        </p:nvSpPr>
        <p:spPr/>
        <p:txBody>
          <a:bodyPr/>
          <a:lstStyle/>
          <a:p>
            <a:fld id="{CB179697-963E-9846-AE14-BE7A697D1049}" type="slidenum">
              <a:rPr lang="en-US" smtClean="0"/>
              <a:t>10</a:t>
            </a:fld>
            <a:endParaRPr lang="en-US"/>
          </a:p>
        </p:txBody>
      </p:sp>
    </p:spTree>
    <p:extLst>
      <p:ext uri="{BB962C8B-B14F-4D97-AF65-F5344CB8AC3E}">
        <p14:creationId xmlns:p14="http://schemas.microsoft.com/office/powerpoint/2010/main" val="11641556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179697-963E-9846-AE14-BE7A697D1049}" type="slidenum">
              <a:rPr lang="en-US" smtClean="0"/>
              <a:t>11</a:t>
            </a:fld>
            <a:endParaRPr lang="en-US"/>
          </a:p>
        </p:txBody>
      </p:sp>
    </p:spTree>
    <p:extLst>
      <p:ext uri="{BB962C8B-B14F-4D97-AF65-F5344CB8AC3E}">
        <p14:creationId xmlns:p14="http://schemas.microsoft.com/office/powerpoint/2010/main" val="2277147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B179697-963E-9846-AE14-BE7A697D1049}" type="slidenum">
              <a:rPr lang="en-US" smtClean="0"/>
              <a:t>12</a:t>
            </a:fld>
            <a:endParaRPr lang="en-US"/>
          </a:p>
        </p:txBody>
      </p:sp>
    </p:spTree>
    <p:extLst>
      <p:ext uri="{BB962C8B-B14F-4D97-AF65-F5344CB8AC3E}">
        <p14:creationId xmlns:p14="http://schemas.microsoft.com/office/powerpoint/2010/main" val="1400791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explored so many algorithms, now a natural questions arises regarding which algorithm to choose and how to choose? There are different factors to take into account when choosing the right algorithm for your </a:t>
            </a:r>
            <a:r>
              <a:rPr lang="en-US" dirty="0" err="1"/>
              <a:t>usecase</a:t>
            </a:r>
            <a:endParaRPr lang="en-US" dirty="0"/>
          </a:p>
        </p:txBody>
      </p:sp>
      <p:sp>
        <p:nvSpPr>
          <p:cNvPr id="4" name="Slide Number Placeholder 3"/>
          <p:cNvSpPr>
            <a:spLocks noGrp="1"/>
          </p:cNvSpPr>
          <p:nvPr>
            <p:ph type="sldNum" sz="quarter" idx="5"/>
          </p:nvPr>
        </p:nvSpPr>
        <p:spPr/>
        <p:txBody>
          <a:bodyPr/>
          <a:lstStyle/>
          <a:p>
            <a:fld id="{CB179697-963E-9846-AE14-BE7A697D1049}" type="slidenum">
              <a:rPr lang="en-US" smtClean="0"/>
              <a:t>14</a:t>
            </a:fld>
            <a:endParaRPr lang="en-US"/>
          </a:p>
        </p:txBody>
      </p:sp>
    </p:spTree>
    <p:extLst>
      <p:ext uri="{BB962C8B-B14F-4D97-AF65-F5344CB8AC3E}">
        <p14:creationId xmlns:p14="http://schemas.microsoft.com/office/powerpoint/2010/main" val="1689654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2C3E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26241-63DF-465A-4EF8-A1E50900E59E}"/>
              </a:ext>
            </a:extLst>
          </p:cNvPr>
          <p:cNvSpPr>
            <a:spLocks noGrp="1"/>
          </p:cNvSpPr>
          <p:nvPr>
            <p:ph type="ctrTitle"/>
          </p:nvPr>
        </p:nvSpPr>
        <p:spPr>
          <a:xfrm>
            <a:off x="1524000" y="1122363"/>
            <a:ext cx="9144000" cy="2387600"/>
          </a:xfrm>
        </p:spPr>
        <p:txBody>
          <a:bodyPr anchor="b"/>
          <a:lstStyle>
            <a:lvl1pPr algn="ctr">
              <a:defRPr sz="6000">
                <a:solidFill>
                  <a:srgbClr val="FFFFFF"/>
                </a:solidFill>
              </a:defRPr>
            </a:lvl1pPr>
          </a:lstStyle>
          <a:p>
            <a:r>
              <a:rPr lang="en-US">
                <a:solidFill>
                  <a:srgbClr val="FFFFFF"/>
                </a:solidFill>
              </a:rPr>
              <a:t>Click to edit Master title style</a:t>
            </a:r>
          </a:p>
        </p:txBody>
      </p:sp>
      <p:sp>
        <p:nvSpPr>
          <p:cNvPr id="3" name="Subtitle 2">
            <a:extLst>
              <a:ext uri="{FF2B5EF4-FFF2-40B4-BE49-F238E27FC236}">
                <a16:creationId xmlns:a16="http://schemas.microsoft.com/office/drawing/2014/main" id="{8FAA3A5E-244C-FD64-B02B-77B3144C3D0B}"/>
              </a:ext>
            </a:extLst>
          </p:cNvPr>
          <p:cNvSpPr>
            <a:spLocks noGrp="1"/>
          </p:cNvSpPr>
          <p:nvPr>
            <p:ph type="subTitle" idx="1"/>
          </p:nvPr>
        </p:nvSpPr>
        <p:spPr>
          <a:xfrm>
            <a:off x="1524000" y="3602038"/>
            <a:ext cx="9144000" cy="1655762"/>
          </a:xfrm>
        </p:spPr>
        <p:txBody>
          <a:bodyPr/>
          <a:lstStyle>
            <a:lvl1pPr marL="0" indent="0" algn="ctr">
              <a:buNone/>
              <a:defRPr sz="2400">
                <a:solidFill>
                  <a:srgbClr val="FFFFFF"/>
                </a:solidFill>
              </a:defRPr>
            </a:lvl1pPr>
            <a:lvl2pPr marL="457200" indent="0" algn="ctr">
              <a:buNone/>
              <a:defRPr sz="2000">
                <a:solidFill>
                  <a:srgbClr val="FFFFFF"/>
                </a:solidFill>
              </a:defRPr>
            </a:lvl2pPr>
            <a:lvl3pPr marL="914400" indent="0" algn="ctr">
              <a:buNone/>
              <a:defRPr sz="1800">
                <a:solidFill>
                  <a:srgbClr val="FFFFFF"/>
                </a:solidFill>
              </a:defRPr>
            </a:lvl3pPr>
            <a:lvl4pPr marL="1371600" indent="0" algn="ctr">
              <a:buNone/>
              <a:defRPr sz="1600">
                <a:solidFill>
                  <a:srgbClr val="FFFFFF"/>
                </a:solidFill>
              </a:defRPr>
            </a:lvl4pPr>
            <a:lvl5pPr marL="1828800" indent="0" algn="ctr">
              <a:buNone/>
              <a:defRPr sz="1600">
                <a:solidFill>
                  <a:srgbClr val="FFFFFF"/>
                </a:solidFill>
              </a:defRPr>
            </a:lvl5pPr>
            <a:lvl6pPr marL="2286000" indent="0" algn="ctr">
              <a:buNone/>
              <a:defRPr sz="1600">
                <a:solidFill>
                  <a:srgbClr val="FFFFFF"/>
                </a:solidFill>
              </a:defRPr>
            </a:lvl6pPr>
            <a:lvl7pPr marL="2743200" indent="0" algn="ctr">
              <a:buNone/>
              <a:defRPr sz="1600">
                <a:solidFill>
                  <a:srgbClr val="FFFFFF"/>
                </a:solidFill>
              </a:defRPr>
            </a:lvl7pPr>
            <a:lvl8pPr marL="3200400" indent="0" algn="ctr">
              <a:buNone/>
              <a:defRPr sz="1600">
                <a:solidFill>
                  <a:srgbClr val="FFFFFF"/>
                </a:solidFill>
              </a:defRPr>
            </a:lvl8pPr>
            <a:lvl9pPr marL="3657600" indent="0" algn="ctr">
              <a:buNone/>
              <a:defRPr sz="1600">
                <a:solidFill>
                  <a:srgbClr val="FFFFFF"/>
                </a:solidFill>
              </a:defRPr>
            </a:lvl9pPr>
          </a:lstStyle>
          <a:p>
            <a:r>
              <a:rPr lang="en-US">
                <a:solidFill>
                  <a:srgbClr val="FFFFFF"/>
                </a:solidFill>
              </a:rPr>
              <a:t>Click to edit Master subtitle style</a:t>
            </a:r>
          </a:p>
        </p:txBody>
      </p:sp>
      <p:sp>
        <p:nvSpPr>
          <p:cNvPr id="4" name="Date Placeholder 3">
            <a:extLst>
              <a:ext uri="{FF2B5EF4-FFF2-40B4-BE49-F238E27FC236}">
                <a16:creationId xmlns:a16="http://schemas.microsoft.com/office/drawing/2014/main" id="{F4D3EB3D-7C19-3297-A86E-152CABA27490}"/>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6E696E80-2574-5020-4733-350D2032A8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AE2D6-1AA1-AB38-0AA3-014C99467905}"/>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1899429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034DA-5AC1-5B68-7764-8F6ACC7136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E1ECC0-9516-4863-6FC8-92D6418B61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8C1125-AF8C-99A4-215B-8BEDEF85D799}"/>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685D5152-033F-6048-250F-D74229166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26F871-B937-9BB5-D5F2-18EB98433413}"/>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3800597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bg>
      <p:bgPr>
        <a:solidFill>
          <a:srgbClr val="2C3E5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03851-C6FF-75CC-3B14-351ED15F2790}"/>
              </a:ext>
            </a:extLst>
          </p:cNvPr>
          <p:cNvSpPr>
            <a:spLocks noGrp="1"/>
          </p:cNvSpPr>
          <p:nvPr>
            <p:ph type="title"/>
          </p:nvPr>
        </p:nvSpPr>
        <p:spPr>
          <a:xfrm>
            <a:off x="831850" y="1709738"/>
            <a:ext cx="10515600" cy="2852737"/>
          </a:xfrm>
        </p:spPr>
        <p:txBody>
          <a:bodyPr anchor="b"/>
          <a:lstStyle>
            <a:lvl1pPr>
              <a:defRPr sz="6000">
                <a:solidFill>
                  <a:srgbClr val="FFFFFF"/>
                </a:solidFill>
              </a:defRPr>
            </a:lvl1pPr>
          </a:lstStyle>
          <a:p>
            <a:r>
              <a:rPr lang="en-US">
                <a:solidFill>
                  <a:srgbClr val="FFFFFF"/>
                </a:solidFill>
              </a:rPr>
              <a:t>Click to edit Master title style</a:t>
            </a:r>
          </a:p>
        </p:txBody>
      </p:sp>
      <p:sp>
        <p:nvSpPr>
          <p:cNvPr id="3" name="Text Placeholder 2">
            <a:extLst>
              <a:ext uri="{FF2B5EF4-FFF2-40B4-BE49-F238E27FC236}">
                <a16:creationId xmlns:a16="http://schemas.microsoft.com/office/drawing/2014/main" id="{E94B0375-91B5-8224-7145-05576887124F}"/>
              </a:ext>
            </a:extLst>
          </p:cNvPr>
          <p:cNvSpPr>
            <a:spLocks noGrp="1"/>
          </p:cNvSpPr>
          <p:nvPr>
            <p:ph type="body" idx="1"/>
          </p:nvPr>
        </p:nvSpPr>
        <p:spPr>
          <a:xfrm>
            <a:off x="831850" y="4589463"/>
            <a:ext cx="10515600" cy="1500187"/>
          </a:xfrm>
        </p:spPr>
        <p:txBody>
          <a:bodyPr/>
          <a:lstStyle>
            <a:lvl1pPr marL="0" indent="0">
              <a:buNone/>
              <a:defRPr sz="2400">
                <a:solidFill>
                  <a:srgbClr val="FFFFFF"/>
                </a:solidFill>
              </a:defRPr>
            </a:lvl1pPr>
            <a:lvl2pPr marL="457200" indent="0">
              <a:buNone/>
              <a:defRPr sz="2000">
                <a:solidFill>
                  <a:srgbClr val="FFFFFF"/>
                </a:solidFill>
              </a:defRPr>
            </a:lvl2pPr>
            <a:lvl3pPr marL="914400" indent="0">
              <a:buNone/>
              <a:defRPr sz="1800">
                <a:solidFill>
                  <a:srgbClr val="FFFFFF"/>
                </a:solidFill>
              </a:defRPr>
            </a:lvl3pPr>
            <a:lvl4pPr marL="1371600" indent="0">
              <a:buNone/>
              <a:defRPr sz="1600">
                <a:solidFill>
                  <a:srgbClr val="FFFFFF"/>
                </a:solidFill>
              </a:defRPr>
            </a:lvl4pPr>
            <a:lvl5pPr marL="1828800" indent="0">
              <a:buNone/>
              <a:defRPr sz="1600">
                <a:solidFill>
                  <a:srgbClr val="FFFFFF"/>
                </a:solidFill>
              </a:defRPr>
            </a:lvl5pPr>
            <a:lvl6pPr marL="2286000" indent="0">
              <a:buNone/>
              <a:defRPr sz="1600">
                <a:solidFill>
                  <a:srgbClr val="FFFFFF"/>
                </a:solidFill>
              </a:defRPr>
            </a:lvl6pPr>
            <a:lvl7pPr marL="2743200" indent="0">
              <a:buNone/>
              <a:defRPr sz="1600">
                <a:solidFill>
                  <a:srgbClr val="FFFFFF"/>
                </a:solidFill>
              </a:defRPr>
            </a:lvl7pPr>
            <a:lvl8pPr marL="3200400" indent="0">
              <a:buNone/>
              <a:defRPr sz="1600">
                <a:solidFill>
                  <a:srgbClr val="FFFFFF"/>
                </a:solidFill>
              </a:defRPr>
            </a:lvl8pPr>
            <a:lvl9pPr marL="3657600" indent="0">
              <a:buNone/>
              <a:defRPr sz="1600">
                <a:solidFill>
                  <a:srgbClr val="FFFFFF"/>
                </a:solidFill>
              </a:defRPr>
            </a:lvl9pPr>
          </a:lstStyle>
          <a:p>
            <a:pPr lvl="0"/>
            <a:r>
              <a:rPr lang="en-US">
                <a:solidFill>
                  <a:srgbClr val="FFFFFF"/>
                </a:solidFill>
              </a:rPr>
              <a:t>Click to edit Master text styles</a:t>
            </a:r>
          </a:p>
        </p:txBody>
      </p:sp>
      <p:sp>
        <p:nvSpPr>
          <p:cNvPr id="4" name="Date Placeholder 3">
            <a:extLst>
              <a:ext uri="{FF2B5EF4-FFF2-40B4-BE49-F238E27FC236}">
                <a16:creationId xmlns:a16="http://schemas.microsoft.com/office/drawing/2014/main" id="{E0277B65-23E7-7F76-C69C-2F8F3E36C791}"/>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4850CB86-0141-401A-4EEF-DE98E9EBD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E2D5D-ACFF-8AB1-74A4-5AA9A653EFCF}"/>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302063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73A86-CDA6-8B09-9259-F74F7AEC03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30700-9F4E-962E-219A-E7C80746E3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F822748-7F67-EC00-B3AA-6A9BF379C5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BB6C23-A6EC-8380-9415-D89BDD7A591C}"/>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6" name="Footer Placeholder 5">
            <a:extLst>
              <a:ext uri="{FF2B5EF4-FFF2-40B4-BE49-F238E27FC236}">
                <a16:creationId xmlns:a16="http://schemas.microsoft.com/office/drawing/2014/main" id="{2BCD8329-ACC4-01AA-22F7-6F6EC1F489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1050CD-A403-68FA-3A20-C55A812C7D3E}"/>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3185745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2FAB8-1161-8B33-04F8-25D268880C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A06782-A8EC-D0DA-A861-7CBF001108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AEB8AC-2F53-5572-D5E2-22C4FB437D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5A9B64-B65E-463E-7DF1-88D68A9663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9829FB-48EB-1496-EDD4-E25F0688AF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E42CA9-7D77-07FA-764E-4BEC024F9650}"/>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8" name="Footer Placeholder 7">
            <a:extLst>
              <a:ext uri="{FF2B5EF4-FFF2-40B4-BE49-F238E27FC236}">
                <a16:creationId xmlns:a16="http://schemas.microsoft.com/office/drawing/2014/main" id="{0501422D-A6CD-F8CE-AC70-75A53ADDE4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EA59CF-3BB5-DC60-E802-21C8C0A67766}"/>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379856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0B6C7-C6A5-DFFE-1064-B3341140E7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5D04F9A-F8AE-28D3-F097-44002085538E}"/>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4" name="Footer Placeholder 3">
            <a:extLst>
              <a:ext uri="{FF2B5EF4-FFF2-40B4-BE49-F238E27FC236}">
                <a16:creationId xmlns:a16="http://schemas.microsoft.com/office/drawing/2014/main" id="{8F769BB8-E12B-2C2B-DAD7-BA7760B3D9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07FA4C-F7FC-3A4D-6776-45FFD26D8F6C}"/>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3885973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FB0B05-0719-B69A-14C1-8A71F400611A}"/>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3" name="Footer Placeholder 2">
            <a:extLst>
              <a:ext uri="{FF2B5EF4-FFF2-40B4-BE49-F238E27FC236}">
                <a16:creationId xmlns:a16="http://schemas.microsoft.com/office/drawing/2014/main" id="{1876B183-2B0D-F592-7C40-F7B174958E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74DF31-6CD9-D0CD-5E79-280D4D96D7A7}"/>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862586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72121-2023-6AE1-2472-3AE9F9FFE9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E270E4-E343-3578-1B87-FBB7CEBC84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883154-B0F6-C78E-B7C0-65BC3CE283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82C634-5013-D36F-2E4E-27BB1C00A949}"/>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6" name="Footer Placeholder 5">
            <a:extLst>
              <a:ext uri="{FF2B5EF4-FFF2-40B4-BE49-F238E27FC236}">
                <a16:creationId xmlns:a16="http://schemas.microsoft.com/office/drawing/2014/main" id="{C07791E6-FE86-C098-C29A-C3D09BFF3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F72E57-00DF-00E4-752F-DC208B6EC059}"/>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4209197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8FC06-666E-6D82-A724-A804F8746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5DD1BD-581E-2EE3-FBC8-A98D2C482A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A8EEF9-A04A-FE45-3B6A-FA60BE4BE8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502E03-6AB8-F12F-2161-96F5E8916FFF}"/>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6" name="Footer Placeholder 5">
            <a:extLst>
              <a:ext uri="{FF2B5EF4-FFF2-40B4-BE49-F238E27FC236}">
                <a16:creationId xmlns:a16="http://schemas.microsoft.com/office/drawing/2014/main" id="{10D00A70-AB53-1B42-6856-6FC1544AB60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D3EC10-B65B-DD2C-3038-9A321C61DD91}"/>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1954620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5A177-9037-2A0E-3051-F5F82086A17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7FA55A3-A493-238F-BE49-9D6213918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D28EA-F603-6C2A-91A9-18B0BC5512E3}"/>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724F84CF-D376-F6E8-46CB-A5EE6C1B74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635FF4-AB31-072B-3E00-5E1F6A0D054D}"/>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467972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B11A0A-1D0B-7A85-5201-A14B27074B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832924-1E6E-2679-6D59-98A9100746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7275A6-E3B5-8178-4C33-E93A92982921}"/>
              </a:ext>
            </a:extLst>
          </p:cNvPr>
          <p:cNvSpPr>
            <a:spLocks noGrp="1"/>
          </p:cNvSpPr>
          <p:nvPr>
            <p:ph type="dt" sz="half" idx="10"/>
          </p:nvPr>
        </p:nvSpPr>
        <p:spPr/>
        <p:txBody>
          <a:body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F94A8806-9A57-AF31-F7C5-3950AFFE1D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E56B4-0737-7068-EB83-282AADF698E7}"/>
              </a:ext>
            </a:extLst>
          </p:cNvPr>
          <p:cNvSpPr>
            <a:spLocks noGrp="1"/>
          </p:cNvSpPr>
          <p:nvPr>
            <p:ph type="sldNum" sz="quarter" idx="12"/>
          </p:nvPr>
        </p:nvSpPr>
        <p:spPr/>
        <p:txBody>
          <a:bodyPr/>
          <a:lstStyle/>
          <a:p>
            <a:fld id="{E13F4000-4CD9-2B48-BABE-4A5246DC2FDC}" type="slidenum">
              <a:rPr lang="en-US" smtClean="0"/>
              <a:t>‹#›</a:t>
            </a:fld>
            <a:endParaRPr lang="en-US"/>
          </a:p>
        </p:txBody>
      </p:sp>
    </p:spTree>
    <p:extLst>
      <p:ext uri="{BB962C8B-B14F-4D97-AF65-F5344CB8AC3E}">
        <p14:creationId xmlns:p14="http://schemas.microsoft.com/office/powerpoint/2010/main" val="908204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CB197-D704-A595-3035-FBC60930AD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0C10E6-6D77-12D4-512D-D12E82FB71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3D6F4-5F29-46E3-5E7C-3BA9C7074F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71AD1FF-322A-EC42-BCC3-5DC105592EB4}" type="datetimeFigureOut">
              <a:rPr lang="en-US" smtClean="0"/>
              <a:t>7/25/26</a:t>
            </a:fld>
            <a:endParaRPr lang="en-US"/>
          </a:p>
        </p:txBody>
      </p:sp>
      <p:sp>
        <p:nvSpPr>
          <p:cNvPr id="5" name="Footer Placeholder 4">
            <a:extLst>
              <a:ext uri="{FF2B5EF4-FFF2-40B4-BE49-F238E27FC236}">
                <a16:creationId xmlns:a16="http://schemas.microsoft.com/office/drawing/2014/main" id="{2EE306E5-F48C-2C12-20C8-C0A95B0B25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92FDCD-02D5-73A3-B7BB-940438BD26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3F4000-4CD9-2B48-BABE-4A5246DC2FDC}" type="slidenum">
              <a:rPr lang="en-US" smtClean="0"/>
              <a:t>‹#›</a:t>
            </a:fld>
            <a:endParaRPr lang="en-US"/>
          </a:p>
        </p:txBody>
      </p:sp>
      <p:sp>
        <p:nvSpPr>
          <p:cNvPr id="910" name="Header Band"/>
          <p:cNvSpPr/>
          <p:nvPr/>
        </p:nvSpPr>
        <p:spPr>
          <a:xfrm>
            <a:off x="0" y="0"/>
            <a:ext cx="12192000" cy="1473200"/>
          </a:xfrm>
          <a:prstGeom prst="rect">
            <a:avLst/>
          </a:prstGeom>
          <a:solidFill>
            <a:srgbClr val="2C3E50"/>
          </a:solidFill>
          <a:ln>
            <a:noFill/>
          </a:ln>
        </p:spPr>
        <p:txBody>
          <a:bodyPr/>
          <a:lstStyle/>
          <a:p>
            <a:endParaRPr/>
          </a:p>
        </p:txBody>
      </p:sp>
      <p:sp>
        <p:nvSpPr>
          <p:cNvPr id="911" name="Header Divider"/>
          <p:cNvSpPr/>
          <p:nvPr/>
        </p:nvSpPr>
        <p:spPr>
          <a:xfrm>
            <a:off x="0" y="1473200"/>
            <a:ext cx="12192000" cy="50800"/>
          </a:xfrm>
          <a:prstGeom prst="rect">
            <a:avLst/>
          </a:prstGeom>
          <a:solidFill>
            <a:srgbClr val="7FD8CE"/>
          </a:solidFill>
          <a:ln>
            <a:noFill/>
          </a:ln>
        </p:spPr>
        <p:txBody>
          <a:bodyPr/>
          <a:lstStyle/>
          <a:p>
            <a:endParaRPr/>
          </a:p>
        </p:txBody>
      </p:sp>
      <p:sp>
        <p:nvSpPr>
          <p:cNvPr id="912" name="Footer Bar"/>
          <p:cNvSpPr/>
          <p:nvPr/>
        </p:nvSpPr>
        <p:spPr>
          <a:xfrm>
            <a:off x="0" y="6781800"/>
            <a:ext cx="12192000" cy="76200"/>
          </a:xfrm>
          <a:prstGeom prst="rect">
            <a:avLst/>
          </a:prstGeom>
          <a:solidFill>
            <a:srgbClr val="0F9D8B"/>
          </a:solidFill>
          <a:ln>
            <a:noFill/>
          </a:ln>
        </p:spPr>
        <p:txBody>
          <a:bodyPr/>
          <a:lstStyle/>
          <a:p>
            <a:endParaRPr/>
          </a:p>
        </p:txBody>
      </p:sp>
    </p:spTree>
    <p:extLst>
      <p:ext uri="{BB962C8B-B14F-4D97-AF65-F5344CB8AC3E}">
        <p14:creationId xmlns:p14="http://schemas.microsoft.com/office/powerpoint/2010/main" val="31499210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rgbClr val="FFFFF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000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5F0C9-131A-8236-8AA7-7CEB7793234C}"/>
              </a:ext>
            </a:extLst>
          </p:cNvPr>
          <p:cNvSpPr>
            <a:spLocks noGrp="1"/>
          </p:cNvSpPr>
          <p:nvPr>
            <p:ph type="ctrTitle"/>
          </p:nvPr>
        </p:nvSpPr>
        <p:spPr>
          <a:xfrm>
            <a:off x="1524000" y="1598318"/>
            <a:ext cx="9144000" cy="1630763"/>
          </a:xfrm>
        </p:spPr>
        <p:txBody>
          <a:bodyPr/>
          <a:lstStyle/>
          <a:p>
            <a:r>
              <a:rPr lang="en-US" dirty="0"/>
              <a:t>Feature Selection</a:t>
            </a:r>
          </a:p>
        </p:txBody>
      </p:sp>
      <p:sp>
        <p:nvSpPr>
          <p:cNvPr id="3" name="Subtitle 2">
            <a:extLst>
              <a:ext uri="{FF2B5EF4-FFF2-40B4-BE49-F238E27FC236}">
                <a16:creationId xmlns:a16="http://schemas.microsoft.com/office/drawing/2014/main" id="{6C6735CC-87A4-990F-9B37-452D216698B1}"/>
              </a:ext>
            </a:extLst>
          </p:cNvPr>
          <p:cNvSpPr>
            <a:spLocks noGrp="1"/>
          </p:cNvSpPr>
          <p:nvPr>
            <p:ph type="subTitle" idx="1"/>
          </p:nvPr>
        </p:nvSpPr>
        <p:spPr>
          <a:xfrm>
            <a:off x="1524000" y="3333814"/>
            <a:ext cx="9144000" cy="1655762"/>
          </a:xfrm>
        </p:spPr>
        <p:txBody>
          <a:bodyPr/>
          <a:lstStyle/>
          <a:p>
            <a:r>
              <a:rPr lang="en-US" dirty="0"/>
              <a:t>Deep dive into the world of feature selection for tabular dataset</a:t>
            </a:r>
          </a:p>
        </p:txBody>
      </p:sp>
      <p:pic>
        <p:nvPicPr>
          <p:cNvPr id="21" name="Picture 20">
            <a:extLst>
              <a:ext uri="{FF2B5EF4-FFF2-40B4-BE49-F238E27FC236}">
                <a16:creationId xmlns:a16="http://schemas.microsoft.com/office/drawing/2014/main" id="{FB5699B1-157C-8461-649C-9C33D39CB61D}"/>
              </a:ext>
            </a:extLst>
          </p:cNvPr>
          <p:cNvPicPr>
            <a:picLocks noChangeAspect="1"/>
          </p:cNvPicPr>
          <p:nvPr/>
        </p:nvPicPr>
        <p:blipFill>
          <a:blip r:embed="rId3"/>
          <a:stretch>
            <a:fillRect/>
          </a:stretch>
        </p:blipFill>
        <p:spPr>
          <a:xfrm>
            <a:off x="4708223" y="3967559"/>
            <a:ext cx="2775553" cy="2775553"/>
          </a:xfrm>
          <a:prstGeom prst="rect">
            <a:avLst/>
          </a:prstGeom>
        </p:spPr>
      </p:pic>
    </p:spTree>
    <p:extLst>
      <p:ext uri="{BB962C8B-B14F-4D97-AF65-F5344CB8AC3E}">
        <p14:creationId xmlns:p14="http://schemas.microsoft.com/office/powerpoint/2010/main" val="420947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p:cTn id="14" dur="1000" fill="hold"/>
                                        <p:tgtEl>
                                          <p:spTgt spid="21"/>
                                        </p:tgtEl>
                                        <p:attrNameLst>
                                          <p:attrName>ppt_w</p:attrName>
                                        </p:attrNameLst>
                                      </p:cBhvr>
                                      <p:tavLst>
                                        <p:tav tm="0">
                                          <p:val>
                                            <p:fltVal val="0"/>
                                          </p:val>
                                        </p:tav>
                                        <p:tav tm="100000">
                                          <p:val>
                                            <p:strVal val="#ppt_w"/>
                                          </p:val>
                                        </p:tav>
                                      </p:tavLst>
                                    </p:anim>
                                    <p:anim calcmode="lin" valueType="num">
                                      <p:cBhvr>
                                        <p:cTn id="15" dur="1000" fill="hold"/>
                                        <p:tgtEl>
                                          <p:spTgt spid="21"/>
                                        </p:tgtEl>
                                        <p:attrNameLst>
                                          <p:attrName>ppt_h</p:attrName>
                                        </p:attrNameLst>
                                      </p:cBhvr>
                                      <p:tavLst>
                                        <p:tav tm="0">
                                          <p:val>
                                            <p:fltVal val="0"/>
                                          </p:val>
                                        </p:tav>
                                        <p:tav tm="100000">
                                          <p:val>
                                            <p:strVal val="#ppt_h"/>
                                          </p:val>
                                        </p:tav>
                                      </p:tavLst>
                                    </p:anim>
                                    <p:animEffect transition="in" filter="fade">
                                      <p:cBhvr>
                                        <p:cTn id="16"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50049-520A-73EE-6A49-98DF961C037D}"/>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D0E640C6-AC2F-4E85-CE6C-48F324434D65}"/>
              </a:ext>
            </a:extLst>
          </p:cNvPr>
          <p:cNvSpPr>
            <a:spLocks noGrp="1"/>
          </p:cNvSpPr>
          <p:nvPr>
            <p:ph idx="1"/>
          </p:nvPr>
        </p:nvSpPr>
        <p:spPr/>
        <p:txBody>
          <a:bodyPr>
            <a:normAutofit fontScale="92500" lnSpcReduction="10000"/>
          </a:bodyPr>
          <a:lstStyle/>
          <a:p>
            <a:pPr marL="228600" indent="-228600">
              <a:spcBef>
                <a:spcPts val="1400"/>
              </a:spcBef>
              <a:buFont typeface="Arial"/>
              <a:buChar char="•"/>
            </a:pPr>
            <a:r>
              <a:rPr lang="en-US" sz="2800" dirty="0"/>
              <a:t>Why Feature Selection ?</a:t>
            </a:r>
          </a:p>
          <a:p>
            <a:pPr marL="228600" indent="-228600">
              <a:spcBef>
                <a:spcPts val="1400"/>
              </a:spcBef>
              <a:buFont typeface="Arial"/>
              <a:buChar char="•"/>
            </a:pPr>
            <a:r>
              <a:rPr lang="en-US" sz="2800" dirty="0"/>
              <a:t>Before jumping to Feature Selection algorithms</a:t>
            </a:r>
          </a:p>
          <a:p>
            <a:pPr marL="228600" indent="-228600">
              <a:spcBef>
                <a:spcPts val="1400"/>
              </a:spcBef>
              <a:buFont typeface="Arial"/>
              <a:buChar char="•"/>
            </a:pPr>
            <a:r>
              <a:rPr lang="en-US" sz="2800" dirty="0"/>
              <a:t>Unsupervised Methods</a:t>
            </a:r>
          </a:p>
          <a:p>
            <a:pPr marL="228600" indent="-228600">
              <a:spcBef>
                <a:spcPts val="1400"/>
              </a:spcBef>
              <a:buFont typeface="Arial"/>
              <a:buChar char="•"/>
            </a:pPr>
            <a:r>
              <a:rPr lang="en-US" sz="2800" dirty="0"/>
              <a:t>Supervised Methods</a:t>
            </a:r>
          </a:p>
          <a:p>
            <a:pPr lvl="1">
              <a:spcBef>
                <a:spcPts val="1400"/>
              </a:spcBef>
              <a:buFont typeface="Arial"/>
              <a:buChar char="•"/>
            </a:pPr>
            <a:r>
              <a:rPr lang="en-US" dirty="0"/>
              <a:t>Filter</a:t>
            </a:r>
          </a:p>
          <a:p>
            <a:pPr lvl="1">
              <a:spcBef>
                <a:spcPts val="1400"/>
              </a:spcBef>
              <a:buFont typeface="Arial"/>
              <a:buChar char="•"/>
            </a:pPr>
            <a:r>
              <a:rPr lang="en-US" dirty="0"/>
              <a:t>Wrapper</a:t>
            </a:r>
          </a:p>
          <a:p>
            <a:pPr lvl="1">
              <a:spcBef>
                <a:spcPts val="1400"/>
              </a:spcBef>
              <a:buFont typeface="Arial"/>
              <a:buChar char="•"/>
            </a:pPr>
            <a:r>
              <a:rPr lang="en-US" dirty="0"/>
              <a:t>Embedded</a:t>
            </a:r>
          </a:p>
          <a:p>
            <a:pPr>
              <a:spcBef>
                <a:spcPts val="1400"/>
              </a:spcBef>
              <a:buFont typeface="Arial"/>
              <a:buChar char="•"/>
            </a:pPr>
            <a:r>
              <a:rPr lang="en-US" dirty="0"/>
              <a:t>Boruta – An all-relevant feature selection technique</a:t>
            </a:r>
          </a:p>
          <a:p>
            <a:pPr>
              <a:spcBef>
                <a:spcPts val="1400"/>
              </a:spcBef>
              <a:buFont typeface="Arial"/>
              <a:buChar char="•"/>
            </a:pPr>
            <a:r>
              <a:rPr lang="en-US" dirty="0"/>
              <a:t>Conclusion</a:t>
            </a:r>
          </a:p>
          <a:p>
            <a:pPr>
              <a:spcBef>
                <a:spcPts val="1400"/>
              </a:spcBef>
              <a:buFont typeface="Arial"/>
              <a:buChar char="•"/>
            </a:pPr>
            <a:endParaRPr lang="en-US" dirty="0"/>
          </a:p>
        </p:txBody>
      </p:sp>
    </p:spTree>
    <p:extLst>
      <p:ext uri="{BB962C8B-B14F-4D97-AF65-F5344CB8AC3E}">
        <p14:creationId xmlns:p14="http://schemas.microsoft.com/office/powerpoint/2010/main" val="1056177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fade">
                                      <p:cBhvr>
                                        <p:cTn id="59" dur="1000"/>
                                        <p:tgtEl>
                                          <p:spTgt spid="3">
                                            <p:txEl>
                                              <p:pRg st="8" end="8"/>
                                            </p:txEl>
                                          </p:spTgt>
                                        </p:tgtEl>
                                      </p:cBhvr>
                                    </p:animEffect>
                                    <p:anim calcmode="lin" valueType="num">
                                      <p:cBhvr>
                                        <p:cTn id="6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3">
                                            <p:txEl>
                                              <p:pRg st="8" end="8"/>
                                            </p:txEl>
                                          </p:spTgt>
                                        </p:tgtEl>
                                        <p:attrNameLst>
                                          <p:attrName>style.visibility</p:attrName>
                                        </p:attrNameLst>
                                      </p:cBhvr>
                                      <p:to>
                                        <p:strVal val="visible"/>
                                      </p:to>
                                    </p:set>
                                    <p:animEffect transition="in" filter="fade">
                                      <p:cBhvr>
                                        <p:cTn id="66" dur="1000"/>
                                        <p:tgtEl>
                                          <p:spTgt spid="3">
                                            <p:txEl>
                                              <p:pRg st="8" end="8"/>
                                            </p:txEl>
                                          </p:spTgt>
                                        </p:tgtEl>
                                      </p:cBhvr>
                                    </p:animEffect>
                                    <p:anim calcmode="lin" valueType="num">
                                      <p:cBhvr>
                                        <p:cTn id="6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E5BA2-9E53-F1EA-3BC6-569478E4AA03}"/>
              </a:ext>
            </a:extLst>
          </p:cNvPr>
          <p:cNvSpPr>
            <a:spLocks noGrp="1"/>
          </p:cNvSpPr>
          <p:nvPr>
            <p:ph type="title"/>
          </p:nvPr>
        </p:nvSpPr>
        <p:spPr/>
        <p:txBody>
          <a:bodyPr/>
          <a:lstStyle/>
          <a:p>
            <a:r>
              <a:rPr lang="en-US" dirty="0"/>
              <a:t>Why Feature Selection?</a:t>
            </a:r>
          </a:p>
        </p:txBody>
      </p:sp>
      <p:sp>
        <p:nvSpPr>
          <p:cNvPr id="3" name="Content Placeholder 2">
            <a:extLst>
              <a:ext uri="{FF2B5EF4-FFF2-40B4-BE49-F238E27FC236}">
                <a16:creationId xmlns:a16="http://schemas.microsoft.com/office/drawing/2014/main" id="{D2C1D675-A2D2-F521-6D97-BBB942405304}"/>
              </a:ext>
            </a:extLst>
          </p:cNvPr>
          <p:cNvSpPr>
            <a:spLocks noGrp="1"/>
          </p:cNvSpPr>
          <p:nvPr>
            <p:ph idx="1"/>
          </p:nvPr>
        </p:nvSpPr>
        <p:spPr/>
        <p:txBody>
          <a:bodyPr>
            <a:normAutofit lnSpcReduction="10000"/>
          </a:bodyPr>
          <a:lstStyle/>
          <a:p>
            <a:r>
              <a:rPr lang="en-US" dirty="0"/>
              <a:t>Remove redundant features</a:t>
            </a:r>
          </a:p>
          <a:p>
            <a:pPr lvl="1">
              <a:buSzPct val="100000"/>
              <a:buFont typeface="Wingdings" pitchFamily="2" charset="2"/>
              <a:buChar char="§"/>
            </a:pPr>
            <a:r>
              <a:rPr lang="en-US" dirty="0"/>
              <a:t>Removes noisy and uninformative features</a:t>
            </a:r>
          </a:p>
          <a:p>
            <a:pPr lvl="1">
              <a:buSzPct val="100000"/>
              <a:buFont typeface="Wingdings" pitchFamily="2" charset="2"/>
              <a:buChar char="§"/>
            </a:pPr>
            <a:r>
              <a:rPr lang="en-US" dirty="0"/>
              <a:t>Drops highly correlated features</a:t>
            </a:r>
          </a:p>
          <a:p>
            <a:r>
              <a:rPr lang="en-US" dirty="0"/>
              <a:t>Avoid curse of dimensionality</a:t>
            </a:r>
          </a:p>
          <a:p>
            <a:pPr lvl="1">
              <a:buFont typeface="Wingdings" pitchFamily="2" charset="2"/>
              <a:buChar char="§"/>
            </a:pPr>
            <a:r>
              <a:rPr lang="en-US" dirty="0"/>
              <a:t>Prevents sparse, hard to model data</a:t>
            </a:r>
          </a:p>
          <a:p>
            <a:pPr lvl="1">
              <a:buFont typeface="Wingdings" pitchFamily="2" charset="2"/>
              <a:buChar char="§"/>
            </a:pPr>
            <a:r>
              <a:rPr lang="en-US" dirty="0"/>
              <a:t>Reduce spurious, meaningless patterns</a:t>
            </a:r>
          </a:p>
          <a:p>
            <a:r>
              <a:rPr lang="en-US" dirty="0"/>
              <a:t>Improve training time</a:t>
            </a:r>
          </a:p>
          <a:p>
            <a:pPr lvl="1">
              <a:buFont typeface="Wingdings" pitchFamily="2" charset="2"/>
              <a:buChar char="§"/>
            </a:pPr>
            <a:r>
              <a:rPr lang="en-US" dirty="0"/>
              <a:t>Lowers computational cost</a:t>
            </a:r>
          </a:p>
          <a:p>
            <a:pPr lvl="1">
              <a:buFont typeface="Wingdings" pitchFamily="2" charset="2"/>
              <a:buChar char="§"/>
            </a:pPr>
            <a:r>
              <a:rPr lang="en-US" dirty="0"/>
              <a:t>Allows more experimentation</a:t>
            </a:r>
          </a:p>
          <a:p>
            <a:r>
              <a:rPr lang="en-US" dirty="0"/>
              <a:t>Reduce overfitting</a:t>
            </a:r>
          </a:p>
          <a:p>
            <a:pPr lvl="1">
              <a:buFont typeface="Wingdings" pitchFamily="2" charset="2"/>
              <a:buChar char="§"/>
            </a:pPr>
            <a:r>
              <a:rPr lang="en-US" dirty="0"/>
              <a:t>Simpler models better (Occam’s Razor)</a:t>
            </a:r>
          </a:p>
        </p:txBody>
      </p:sp>
    </p:spTree>
    <p:extLst>
      <p:ext uri="{BB962C8B-B14F-4D97-AF65-F5344CB8AC3E}">
        <p14:creationId xmlns:p14="http://schemas.microsoft.com/office/powerpoint/2010/main" val="1629382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1000"/>
                                        <p:tgtEl>
                                          <p:spTgt spid="3">
                                            <p:txEl>
                                              <p:pRg st="8" end="8"/>
                                            </p:txEl>
                                          </p:spTgt>
                                        </p:tgtEl>
                                      </p:cBhvr>
                                    </p:animEffect>
                                    <p:anim calcmode="lin" valueType="num">
                                      <p:cBhvr>
                                        <p:cTn id="52"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fade">
                                      <p:cBhvr>
                                        <p:cTn id="58" dur="1000"/>
                                        <p:tgtEl>
                                          <p:spTgt spid="3">
                                            <p:txEl>
                                              <p:pRg st="9" end="9"/>
                                            </p:txEl>
                                          </p:spTgt>
                                        </p:tgtEl>
                                      </p:cBhvr>
                                    </p:animEffect>
                                    <p:anim calcmode="lin" valueType="num">
                                      <p:cBhvr>
                                        <p:cTn id="5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0" dur="1000" fill="hold"/>
                                        <p:tgtEl>
                                          <p:spTgt spid="3">
                                            <p:txEl>
                                              <p:pRg st="9" end="9"/>
                                            </p:txEl>
                                          </p:spTgt>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fade">
                                      <p:cBhvr>
                                        <p:cTn id="63" dur="1000"/>
                                        <p:tgtEl>
                                          <p:spTgt spid="3">
                                            <p:txEl>
                                              <p:pRg st="10" end="10"/>
                                            </p:txEl>
                                          </p:spTgt>
                                        </p:tgtEl>
                                      </p:cBhvr>
                                    </p:animEffect>
                                    <p:anim calcmode="lin" valueType="num">
                                      <p:cBhvr>
                                        <p:cTn id="6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0B889-65CA-2279-42EB-1E6F98804C36}"/>
              </a:ext>
            </a:extLst>
          </p:cNvPr>
          <p:cNvSpPr>
            <a:spLocks noGrp="1"/>
          </p:cNvSpPr>
          <p:nvPr>
            <p:ph type="title"/>
          </p:nvPr>
        </p:nvSpPr>
        <p:spPr/>
        <p:txBody>
          <a:bodyPr/>
          <a:lstStyle/>
          <a:p>
            <a:r>
              <a:rPr lang="en-US" dirty="0"/>
              <a:t>Before Feature Selection Algos</a:t>
            </a:r>
          </a:p>
        </p:txBody>
      </p:sp>
      <p:sp>
        <p:nvSpPr>
          <p:cNvPr id="3" name="Content Placeholder 2">
            <a:extLst>
              <a:ext uri="{FF2B5EF4-FFF2-40B4-BE49-F238E27FC236}">
                <a16:creationId xmlns:a16="http://schemas.microsoft.com/office/drawing/2014/main" id="{276F57D3-20B3-DD96-44A5-154ECAC9CC7B}"/>
              </a:ext>
            </a:extLst>
          </p:cNvPr>
          <p:cNvSpPr>
            <a:spLocks noGrp="1"/>
          </p:cNvSpPr>
          <p:nvPr>
            <p:ph idx="1"/>
          </p:nvPr>
        </p:nvSpPr>
        <p:spPr/>
        <p:txBody>
          <a:bodyPr>
            <a:normAutofit fontScale="92500" lnSpcReduction="10000"/>
          </a:bodyPr>
          <a:lstStyle/>
          <a:p>
            <a:r>
              <a:rPr lang="en-US" dirty="0"/>
              <a:t>Remove constant/near constant features</a:t>
            </a:r>
          </a:p>
          <a:p>
            <a:r>
              <a:rPr lang="en-US" dirty="0"/>
              <a:t>Remove meaningless (IDs / Date) columns</a:t>
            </a:r>
          </a:p>
          <a:p>
            <a:r>
              <a:rPr lang="en-US" dirty="0"/>
              <a:t>Treat high cardinality features – Increase model size</a:t>
            </a:r>
          </a:p>
          <a:p>
            <a:pPr lvl="1">
              <a:buFont typeface="Wingdings" pitchFamily="2" charset="2"/>
              <a:buChar char="§"/>
            </a:pPr>
            <a:r>
              <a:rPr lang="en-US" dirty="0"/>
              <a:t>Embeddings</a:t>
            </a:r>
          </a:p>
          <a:p>
            <a:pPr lvl="1">
              <a:buFont typeface="Wingdings" pitchFamily="2" charset="2"/>
              <a:buChar char="§"/>
            </a:pPr>
            <a:r>
              <a:rPr lang="en-US" dirty="0"/>
              <a:t>Indirect Features</a:t>
            </a:r>
          </a:p>
          <a:p>
            <a:pPr lvl="1">
              <a:buFont typeface="Wingdings" pitchFamily="2" charset="2"/>
              <a:buChar char="§"/>
            </a:pPr>
            <a:r>
              <a:rPr lang="en-US" dirty="0"/>
              <a:t>Meaningful categories</a:t>
            </a:r>
          </a:p>
          <a:p>
            <a:r>
              <a:rPr lang="en-US" dirty="0"/>
              <a:t>Remove highly correlated features</a:t>
            </a:r>
          </a:p>
          <a:p>
            <a:pPr lvl="1">
              <a:buFont typeface="Wingdings" pitchFamily="2" charset="2"/>
              <a:buChar char="§"/>
            </a:pPr>
            <a:r>
              <a:rPr lang="en-US" dirty="0"/>
              <a:t>Pearson R, Spearman Rank (Bivariate), VIF (Multicollinearity), MI, Chi2</a:t>
            </a:r>
          </a:p>
          <a:p>
            <a:r>
              <a:rPr lang="en-US" dirty="0"/>
              <a:t>Check information leakage and dependent features</a:t>
            </a:r>
          </a:p>
          <a:p>
            <a:pPr lvl="1">
              <a:buFont typeface="Wingdings" pitchFamily="2" charset="2"/>
              <a:buChar char="§"/>
            </a:pPr>
            <a:r>
              <a:rPr lang="en-US" dirty="0"/>
              <a:t>Loss and model scores</a:t>
            </a:r>
          </a:p>
          <a:p>
            <a:r>
              <a:rPr lang="en-US" dirty="0"/>
              <a:t>Remove biased features</a:t>
            </a:r>
          </a:p>
          <a:p>
            <a:endParaRPr lang="en-US" dirty="0"/>
          </a:p>
          <a:p>
            <a:endParaRPr lang="en-US" dirty="0"/>
          </a:p>
        </p:txBody>
      </p:sp>
    </p:spTree>
    <p:extLst>
      <p:ext uri="{BB962C8B-B14F-4D97-AF65-F5344CB8AC3E}">
        <p14:creationId xmlns:p14="http://schemas.microsoft.com/office/powerpoint/2010/main" val="176955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3">
                                            <p:txEl>
                                              <p:pRg st="10" end="10"/>
                                            </p:txEl>
                                          </p:spTgt>
                                        </p:tgtEl>
                                        <p:attrNameLst>
                                          <p:attrName>style.visibility</p:attrName>
                                        </p:attrNameLst>
                                      </p:cBhvr>
                                      <p:to>
                                        <p:strVal val="visible"/>
                                      </p:to>
                                    </p:set>
                                    <p:animEffect transition="in" filter="fade">
                                      <p:cBhvr>
                                        <p:cTn id="77" dur="1000"/>
                                        <p:tgtEl>
                                          <p:spTgt spid="3">
                                            <p:txEl>
                                              <p:pRg st="10" end="10"/>
                                            </p:txEl>
                                          </p:spTgt>
                                        </p:tgtEl>
                                      </p:cBhvr>
                                    </p:animEffect>
                                    <p:anim calcmode="lin" valueType="num">
                                      <p:cBhvr>
                                        <p:cTn id="7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585F5-0F80-B4DA-DFCB-80A40CF8E17E}"/>
              </a:ext>
            </a:extLst>
          </p:cNvPr>
          <p:cNvSpPr>
            <a:spLocks noGrp="1"/>
          </p:cNvSpPr>
          <p:nvPr>
            <p:ph type="title"/>
          </p:nvPr>
        </p:nvSpPr>
        <p:spPr/>
        <p:txBody>
          <a:bodyPr/>
          <a:lstStyle/>
          <a:p>
            <a:r>
              <a:rPr lang="en-US" dirty="0"/>
              <a:t>Before Feature Selection Algos</a:t>
            </a:r>
          </a:p>
        </p:txBody>
      </p:sp>
      <p:sp>
        <p:nvSpPr>
          <p:cNvPr id="3" name="Content Placeholder 2">
            <a:extLst>
              <a:ext uri="{FF2B5EF4-FFF2-40B4-BE49-F238E27FC236}">
                <a16:creationId xmlns:a16="http://schemas.microsoft.com/office/drawing/2014/main" id="{508CDB0E-1711-99F7-9E1B-4382B49E28BC}"/>
              </a:ext>
            </a:extLst>
          </p:cNvPr>
          <p:cNvSpPr>
            <a:spLocks noGrp="1"/>
          </p:cNvSpPr>
          <p:nvPr>
            <p:ph idx="1"/>
          </p:nvPr>
        </p:nvSpPr>
        <p:spPr/>
        <p:txBody>
          <a:bodyPr/>
          <a:lstStyle/>
          <a:p>
            <a:r>
              <a:rPr lang="en-US" dirty="0"/>
              <a:t>Check for consistency in feature distribution</a:t>
            </a:r>
          </a:p>
          <a:p>
            <a:pPr lvl="1">
              <a:buFont typeface="Wingdings" pitchFamily="2" charset="2"/>
              <a:buChar char="§"/>
            </a:pPr>
            <a:r>
              <a:rPr lang="en-US" dirty="0"/>
              <a:t>KS, PSI (non-parametric), Z-test (parametric)</a:t>
            </a:r>
          </a:p>
          <a:p>
            <a:r>
              <a:rPr lang="en-US" dirty="0"/>
              <a:t>Outliers - noise or meaningful pattern?</a:t>
            </a:r>
          </a:p>
          <a:p>
            <a:pPr lvl="1">
              <a:buFont typeface="Wingdings" pitchFamily="2" charset="2"/>
              <a:buChar char="§"/>
            </a:pPr>
            <a:r>
              <a:rPr lang="en-US" dirty="0"/>
              <a:t>Box-plots, IQRs (+/- 1.5 IQR), Isolation Forest</a:t>
            </a:r>
          </a:p>
          <a:p>
            <a:r>
              <a:rPr lang="en-US" dirty="0"/>
              <a:t>Business approval – Does your feature makes sense to the business?</a:t>
            </a:r>
          </a:p>
          <a:p>
            <a:r>
              <a:rPr lang="en-US" dirty="0"/>
              <a:t>Keep diverse features and drop duplicate features</a:t>
            </a:r>
          </a:p>
          <a:p>
            <a:r>
              <a:rPr lang="en-US" dirty="0"/>
              <a:t>Don’t create any lookahead features</a:t>
            </a:r>
          </a:p>
          <a:p>
            <a:r>
              <a:rPr lang="en-US" dirty="0"/>
              <a:t>Preprocess the data - Standardization, </a:t>
            </a:r>
            <a:r>
              <a:rPr lang="en-US" dirty="0" err="1"/>
              <a:t>OneHotEncoding</a:t>
            </a:r>
            <a:r>
              <a:rPr lang="en-US" dirty="0"/>
              <a:t> etc.</a:t>
            </a:r>
          </a:p>
          <a:p>
            <a:endParaRPr lang="en-US" dirty="0"/>
          </a:p>
          <a:p>
            <a:endParaRPr lang="en-US" dirty="0"/>
          </a:p>
        </p:txBody>
      </p:sp>
    </p:spTree>
    <p:extLst>
      <p:ext uri="{BB962C8B-B14F-4D97-AF65-F5344CB8AC3E}">
        <p14:creationId xmlns:p14="http://schemas.microsoft.com/office/powerpoint/2010/main" val="423264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917C-808F-40F2-9003-D0A195715E07}"/>
              </a:ext>
            </a:extLst>
          </p:cNvPr>
          <p:cNvSpPr>
            <a:spLocks noGrp="1"/>
          </p:cNvSpPr>
          <p:nvPr>
            <p:ph type="title"/>
          </p:nvPr>
        </p:nvSpPr>
        <p:spPr/>
        <p:txBody>
          <a:bodyPr/>
          <a:lstStyle/>
          <a:p>
            <a:r>
              <a:rPr lang="en-US" dirty="0"/>
              <a:t>Unsupervised Methods</a:t>
            </a:r>
          </a:p>
        </p:txBody>
      </p:sp>
      <p:sp>
        <p:nvSpPr>
          <p:cNvPr id="3" name="Content Placeholder 2">
            <a:extLst>
              <a:ext uri="{FF2B5EF4-FFF2-40B4-BE49-F238E27FC236}">
                <a16:creationId xmlns:a16="http://schemas.microsoft.com/office/drawing/2014/main" id="{122E1DEA-079D-2953-A8B9-F94BC7D1B413}"/>
              </a:ext>
            </a:extLst>
          </p:cNvPr>
          <p:cNvSpPr>
            <a:spLocks noGrp="1"/>
          </p:cNvSpPr>
          <p:nvPr>
            <p:ph idx="1"/>
          </p:nvPr>
        </p:nvSpPr>
        <p:spPr/>
        <p:txBody>
          <a:bodyPr>
            <a:normAutofit lnSpcReduction="10000"/>
          </a:bodyPr>
          <a:lstStyle/>
          <a:p>
            <a:r>
              <a:rPr lang="en-US" dirty="0"/>
              <a:t>Variance Threshold</a:t>
            </a:r>
          </a:p>
          <a:p>
            <a:pPr lvl="1">
              <a:buFont typeface="Wingdings" pitchFamily="2" charset="2"/>
              <a:buChar char="§"/>
            </a:pPr>
            <a:r>
              <a:rPr lang="en-US" dirty="0"/>
              <a:t>Remove features with low variance</a:t>
            </a:r>
          </a:p>
          <a:p>
            <a:pPr lvl="1">
              <a:buFont typeface="Wingdings" pitchFamily="2" charset="2"/>
              <a:buChar char="§"/>
            </a:pPr>
            <a:r>
              <a:rPr lang="en-US" dirty="0"/>
              <a:t>Assumption – High variance features capture more information</a:t>
            </a:r>
          </a:p>
          <a:p>
            <a:r>
              <a:rPr lang="en-US" dirty="0"/>
              <a:t>PCA</a:t>
            </a:r>
          </a:p>
          <a:p>
            <a:pPr lvl="1">
              <a:buFont typeface="Wingdings" pitchFamily="2" charset="2"/>
              <a:buChar char="§"/>
            </a:pPr>
            <a:r>
              <a:rPr lang="en-US" dirty="0"/>
              <a:t>Dimensionality Reduction technique, creates uncorrelated features</a:t>
            </a:r>
          </a:p>
          <a:p>
            <a:pPr lvl="1">
              <a:buFont typeface="Wingdings" pitchFamily="2" charset="2"/>
              <a:buChar char="§"/>
            </a:pPr>
            <a:r>
              <a:rPr lang="en-US" dirty="0"/>
              <a:t>Assumes linear subspace</a:t>
            </a:r>
          </a:p>
          <a:p>
            <a:pPr lvl="1">
              <a:buFont typeface="Wingdings" pitchFamily="2" charset="2"/>
              <a:buChar char="§"/>
            </a:pPr>
            <a:r>
              <a:rPr lang="en-US" dirty="0"/>
              <a:t>Assumes higher variance components capture more information, drops noisy features</a:t>
            </a:r>
          </a:p>
          <a:p>
            <a:pPr lvl="1">
              <a:buFont typeface="Wingdings" pitchFamily="2" charset="2"/>
              <a:buChar char="§"/>
            </a:pPr>
            <a:r>
              <a:rPr lang="en-US" dirty="0"/>
              <a:t>Standardize features before implementation to remove the impact of magnitude</a:t>
            </a:r>
          </a:p>
          <a:p>
            <a:pPr lvl="1">
              <a:buFont typeface="Wingdings" pitchFamily="2" charset="2"/>
              <a:buChar char="§"/>
            </a:pPr>
            <a:r>
              <a:rPr lang="en-US" dirty="0"/>
              <a:t>Lacks Interpretability</a:t>
            </a:r>
          </a:p>
        </p:txBody>
      </p:sp>
    </p:spTree>
    <p:extLst>
      <p:ext uri="{BB962C8B-B14F-4D97-AF65-F5344CB8AC3E}">
        <p14:creationId xmlns:p14="http://schemas.microsoft.com/office/powerpoint/2010/main" val="414928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fade">
                                      <p:cBhvr>
                                        <p:cTn id="50" dur="1000"/>
                                        <p:tgtEl>
                                          <p:spTgt spid="3">
                                            <p:txEl>
                                              <p:pRg st="7" end="7"/>
                                            </p:txEl>
                                          </p:spTgt>
                                        </p:tgtEl>
                                      </p:cBhvr>
                                    </p:animEffect>
                                    <p:anim calcmode="lin" valueType="num">
                                      <p:cBhvr>
                                        <p:cTn id="5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9D631-F380-473C-FEEB-EA63AEA74829}"/>
              </a:ext>
            </a:extLst>
          </p:cNvPr>
          <p:cNvSpPr>
            <a:spLocks noGrp="1"/>
          </p:cNvSpPr>
          <p:nvPr>
            <p:ph type="title"/>
          </p:nvPr>
        </p:nvSpPr>
        <p:spPr/>
        <p:txBody>
          <a:bodyPr/>
          <a:lstStyle/>
          <a:p>
            <a:r>
              <a:rPr lang="en-US" dirty="0"/>
              <a:t>Unsupervised Methods</a:t>
            </a:r>
          </a:p>
        </p:txBody>
      </p:sp>
      <p:sp>
        <p:nvSpPr>
          <p:cNvPr id="3" name="Content Placeholder 2">
            <a:extLst>
              <a:ext uri="{FF2B5EF4-FFF2-40B4-BE49-F238E27FC236}">
                <a16:creationId xmlns:a16="http://schemas.microsoft.com/office/drawing/2014/main" id="{1AA37E69-E6FD-0682-9B34-330FFE0E62A1}"/>
              </a:ext>
            </a:extLst>
          </p:cNvPr>
          <p:cNvSpPr>
            <a:spLocks noGrp="1"/>
          </p:cNvSpPr>
          <p:nvPr>
            <p:ph idx="1"/>
          </p:nvPr>
        </p:nvSpPr>
        <p:spPr/>
        <p:txBody>
          <a:bodyPr/>
          <a:lstStyle/>
          <a:p>
            <a:r>
              <a:rPr lang="en-US" dirty="0"/>
              <a:t>Auto Encoders</a:t>
            </a:r>
          </a:p>
          <a:p>
            <a:pPr lvl="1">
              <a:buFont typeface="Wingdings" pitchFamily="2" charset="2"/>
              <a:buChar char="§"/>
            </a:pPr>
            <a:r>
              <a:rPr lang="en-US" dirty="0"/>
              <a:t>Dimensionality Reduction</a:t>
            </a:r>
          </a:p>
          <a:p>
            <a:pPr lvl="1">
              <a:buFont typeface="Wingdings" pitchFamily="2" charset="2"/>
              <a:buChar char="§"/>
            </a:pPr>
            <a:r>
              <a:rPr lang="en-US" dirty="0"/>
              <a:t>Uses multilayered NN to get compressed latent representation of input data, non-linear transformation</a:t>
            </a:r>
          </a:p>
          <a:p>
            <a:pPr lvl="1">
              <a:buFont typeface="Wingdings" pitchFamily="2" charset="2"/>
              <a:buChar char="§"/>
            </a:pPr>
            <a:r>
              <a:rPr lang="en-US" dirty="0"/>
              <a:t>Encoder – Decoder Framework</a:t>
            </a:r>
          </a:p>
          <a:p>
            <a:pPr lvl="1">
              <a:buFont typeface="Wingdings" pitchFamily="2" charset="2"/>
              <a:buChar char="§"/>
            </a:pPr>
            <a:r>
              <a:rPr lang="en-US" dirty="0"/>
              <a:t>Goal – Minimize the reconstruction error</a:t>
            </a:r>
          </a:p>
          <a:p>
            <a:pPr lvl="1">
              <a:buFont typeface="Wingdings" pitchFamily="2" charset="2"/>
              <a:buChar char="§"/>
            </a:pPr>
            <a:r>
              <a:rPr lang="en-US" dirty="0"/>
              <a:t>Separates signals from noise</a:t>
            </a:r>
          </a:p>
          <a:p>
            <a:r>
              <a:rPr lang="en-US" dirty="0"/>
              <a:t>Other techniques like UMAP, t-SNE etc.</a:t>
            </a:r>
          </a:p>
          <a:p>
            <a:endParaRPr lang="en-US" dirty="0"/>
          </a:p>
        </p:txBody>
      </p:sp>
    </p:spTree>
    <p:extLst>
      <p:ext uri="{BB962C8B-B14F-4D97-AF65-F5344CB8AC3E}">
        <p14:creationId xmlns:p14="http://schemas.microsoft.com/office/powerpoint/2010/main" val="402748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1000"/>
                                        <p:tgtEl>
                                          <p:spTgt spid="3">
                                            <p:txEl>
                                              <p:pRg st="5" end="5"/>
                                            </p:txEl>
                                          </p:spTgt>
                                        </p:tgtEl>
                                      </p:cBhvr>
                                    </p:animEffect>
                                    <p:anim calcmode="lin" valueType="num">
                                      <p:cBhvr>
                                        <p:cTn id="3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4FC40-78AD-251C-B053-407BEF4520B7}"/>
              </a:ext>
            </a:extLst>
          </p:cNvPr>
          <p:cNvSpPr>
            <a:spLocks noGrp="1"/>
          </p:cNvSpPr>
          <p:nvPr>
            <p:ph type="title"/>
          </p:nvPr>
        </p:nvSpPr>
        <p:spPr/>
        <p:txBody>
          <a:bodyPr/>
          <a:lstStyle/>
          <a:p>
            <a:r>
              <a:rPr lang="en-US" dirty="0"/>
              <a:t>Supervised Methods (Filter)</a:t>
            </a:r>
          </a:p>
        </p:txBody>
      </p:sp>
      <p:sp>
        <p:nvSpPr>
          <p:cNvPr id="3" name="Content Placeholder 2">
            <a:extLst>
              <a:ext uri="{FF2B5EF4-FFF2-40B4-BE49-F238E27FC236}">
                <a16:creationId xmlns:a16="http://schemas.microsoft.com/office/drawing/2014/main" id="{A264D9DC-6263-5785-6453-2E4B57F82815}"/>
              </a:ext>
            </a:extLst>
          </p:cNvPr>
          <p:cNvSpPr>
            <a:spLocks noGrp="1"/>
          </p:cNvSpPr>
          <p:nvPr>
            <p:ph idx="1"/>
          </p:nvPr>
        </p:nvSpPr>
        <p:spPr/>
        <p:txBody>
          <a:bodyPr/>
          <a:lstStyle/>
          <a:p>
            <a:r>
              <a:rPr lang="en-US" dirty="0"/>
              <a:t>Both input and output are continuous</a:t>
            </a:r>
          </a:p>
          <a:p>
            <a:pPr lvl="1">
              <a:buFont typeface="Wingdings" pitchFamily="2" charset="2"/>
              <a:buChar char="§"/>
            </a:pPr>
            <a:r>
              <a:rPr lang="en-US" dirty="0"/>
              <a:t>Pearson R</a:t>
            </a:r>
          </a:p>
          <a:p>
            <a:pPr lvl="1">
              <a:buFont typeface="Wingdings" pitchFamily="2" charset="2"/>
              <a:buChar char="§"/>
            </a:pPr>
            <a:r>
              <a:rPr lang="en-US" dirty="0"/>
              <a:t>Spearman Rank</a:t>
            </a:r>
          </a:p>
          <a:p>
            <a:pPr lvl="1">
              <a:buFont typeface="Wingdings" pitchFamily="2" charset="2"/>
              <a:buChar char="§"/>
            </a:pPr>
            <a:r>
              <a:rPr lang="en-US" dirty="0"/>
              <a:t>Mutual Information</a:t>
            </a:r>
          </a:p>
          <a:p>
            <a:r>
              <a:rPr lang="en-US" dirty="0"/>
              <a:t>Both input and output are categorical</a:t>
            </a:r>
          </a:p>
          <a:p>
            <a:pPr lvl="1">
              <a:buFont typeface="Wingdings" pitchFamily="2" charset="2"/>
              <a:buChar char="§"/>
            </a:pPr>
            <a:r>
              <a:rPr lang="en-US" dirty="0"/>
              <a:t>Chi2 test of association</a:t>
            </a:r>
          </a:p>
          <a:p>
            <a:pPr lvl="1">
              <a:buFont typeface="Wingdings" pitchFamily="2" charset="2"/>
              <a:buChar char="§"/>
            </a:pPr>
            <a:r>
              <a:rPr lang="en-US" dirty="0"/>
              <a:t>Mutual Information</a:t>
            </a:r>
          </a:p>
          <a:p>
            <a:r>
              <a:rPr lang="en-US" dirty="0"/>
              <a:t>One is categorical other is numerical</a:t>
            </a:r>
          </a:p>
          <a:p>
            <a:pPr lvl="1">
              <a:buFont typeface="Wingdings" pitchFamily="2" charset="2"/>
              <a:buChar char="§"/>
            </a:pPr>
            <a:r>
              <a:rPr lang="en-US" dirty="0"/>
              <a:t>ANOVA F-test / T-test (Parametric)</a:t>
            </a:r>
          </a:p>
          <a:p>
            <a:pPr lvl="1">
              <a:buFont typeface="Wingdings" pitchFamily="2" charset="2"/>
              <a:buChar char="§"/>
            </a:pPr>
            <a:r>
              <a:rPr lang="en-US" dirty="0"/>
              <a:t>Kruskal-Wallis test / Man-Whitney U test (Non-parametric)</a:t>
            </a:r>
          </a:p>
        </p:txBody>
      </p:sp>
    </p:spTree>
    <p:extLst>
      <p:ext uri="{BB962C8B-B14F-4D97-AF65-F5344CB8AC3E}">
        <p14:creationId xmlns:p14="http://schemas.microsoft.com/office/powerpoint/2010/main" val="822539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83792-8A38-4229-E38B-6A2551E6F6A3}"/>
              </a:ext>
            </a:extLst>
          </p:cNvPr>
          <p:cNvSpPr>
            <a:spLocks noGrp="1"/>
          </p:cNvSpPr>
          <p:nvPr>
            <p:ph type="title"/>
          </p:nvPr>
        </p:nvSpPr>
        <p:spPr/>
        <p:txBody>
          <a:bodyPr/>
          <a:lstStyle/>
          <a:p>
            <a:r>
              <a:rPr lang="en-US" dirty="0"/>
              <a:t>Supervised Methods (Wrapper)</a:t>
            </a:r>
          </a:p>
        </p:txBody>
      </p:sp>
      <p:sp>
        <p:nvSpPr>
          <p:cNvPr id="3" name="Content Placeholder 2">
            <a:extLst>
              <a:ext uri="{FF2B5EF4-FFF2-40B4-BE49-F238E27FC236}">
                <a16:creationId xmlns:a16="http://schemas.microsoft.com/office/drawing/2014/main" id="{377AAA7E-EE42-DC5A-329F-AF26FC87DCC4}"/>
              </a:ext>
            </a:extLst>
          </p:cNvPr>
          <p:cNvSpPr>
            <a:spLocks noGrp="1"/>
          </p:cNvSpPr>
          <p:nvPr>
            <p:ph idx="1"/>
          </p:nvPr>
        </p:nvSpPr>
        <p:spPr/>
        <p:txBody>
          <a:bodyPr>
            <a:normAutofit fontScale="92500" lnSpcReduction="20000"/>
          </a:bodyPr>
          <a:lstStyle/>
          <a:p>
            <a:r>
              <a:rPr lang="en-US" dirty="0"/>
              <a:t>Backward / Forward Selection</a:t>
            </a:r>
          </a:p>
          <a:p>
            <a:pPr lvl="1">
              <a:buFont typeface="Wingdings" pitchFamily="2" charset="2"/>
              <a:buChar char="§"/>
            </a:pPr>
            <a:r>
              <a:rPr lang="en-US" dirty="0"/>
              <a:t>Use cross validation (CV) performance</a:t>
            </a:r>
          </a:p>
          <a:p>
            <a:pPr lvl="1">
              <a:buFont typeface="Wingdings" pitchFamily="2" charset="2"/>
              <a:buChar char="§"/>
            </a:pPr>
            <a:r>
              <a:rPr lang="en-US" dirty="0"/>
              <a:t>Adds or removes features in greedy fashion</a:t>
            </a:r>
          </a:p>
          <a:p>
            <a:pPr lvl="1">
              <a:buFont typeface="Wingdings" pitchFamily="2" charset="2"/>
              <a:buChar char="§"/>
            </a:pPr>
            <a:r>
              <a:rPr lang="en-US" dirty="0"/>
              <a:t>Stopping criteria – Minimum CV score improvement, desired no. of features</a:t>
            </a:r>
          </a:p>
          <a:p>
            <a:r>
              <a:rPr lang="en-US" dirty="0"/>
              <a:t>Recursive Elimination (RFE)</a:t>
            </a:r>
          </a:p>
          <a:p>
            <a:pPr lvl="1">
              <a:buFont typeface="Wingdings" pitchFamily="2" charset="2"/>
              <a:buChar char="§"/>
            </a:pPr>
            <a:r>
              <a:rPr lang="en-US" dirty="0"/>
              <a:t>Use feature importance from the underlying model</a:t>
            </a:r>
          </a:p>
          <a:p>
            <a:pPr lvl="1">
              <a:buFont typeface="Wingdings" pitchFamily="2" charset="2"/>
              <a:buChar char="§"/>
            </a:pPr>
            <a:r>
              <a:rPr lang="en-US" dirty="0"/>
              <a:t>Iteratively removes one or more features</a:t>
            </a:r>
          </a:p>
          <a:p>
            <a:pPr lvl="1">
              <a:buFont typeface="Wingdings" pitchFamily="2" charset="2"/>
              <a:buChar char="§"/>
            </a:pPr>
            <a:r>
              <a:rPr lang="en-US" dirty="0"/>
              <a:t>Stops when reaching desired no. of features</a:t>
            </a:r>
          </a:p>
          <a:p>
            <a:pPr lvl="1">
              <a:buFont typeface="Wingdings" pitchFamily="2" charset="2"/>
              <a:buChar char="§"/>
            </a:pPr>
            <a:r>
              <a:rPr lang="en-US" dirty="0"/>
              <a:t>No CV, Risk of overfitting</a:t>
            </a:r>
          </a:p>
          <a:p>
            <a:r>
              <a:rPr lang="en-US" dirty="0"/>
              <a:t>Recursive Elimination with CV (RFECV)</a:t>
            </a:r>
          </a:p>
          <a:p>
            <a:pPr lvl="1">
              <a:buFont typeface="Wingdings" pitchFamily="2" charset="2"/>
              <a:buChar char="§"/>
            </a:pPr>
            <a:r>
              <a:rPr lang="en-US" dirty="0"/>
              <a:t>No stopping criteria</a:t>
            </a:r>
          </a:p>
          <a:p>
            <a:pPr lvl="1">
              <a:buFont typeface="Wingdings" pitchFamily="2" charset="2"/>
              <a:buChar char="§"/>
            </a:pPr>
            <a:r>
              <a:rPr lang="en-US" dirty="0"/>
              <a:t>Automatically selects the no. of features based on CV score</a:t>
            </a:r>
          </a:p>
          <a:p>
            <a:pPr lvl="1">
              <a:buFont typeface="Wingdings" pitchFamily="2" charset="2"/>
              <a:buChar char="§"/>
            </a:pPr>
            <a:r>
              <a:rPr lang="en-US" dirty="0"/>
              <a:t>More computationally expensive than RFE</a:t>
            </a:r>
          </a:p>
        </p:txBody>
      </p:sp>
    </p:spTree>
    <p:extLst>
      <p:ext uri="{BB962C8B-B14F-4D97-AF65-F5344CB8AC3E}">
        <p14:creationId xmlns:p14="http://schemas.microsoft.com/office/powerpoint/2010/main" val="407977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Effect transition="in" filter="fade">
                                      <p:cBhvr>
                                        <p:cTn id="60" dur="1000"/>
                                        <p:tgtEl>
                                          <p:spTgt spid="3">
                                            <p:txEl>
                                              <p:pRg st="9" end="9"/>
                                            </p:txEl>
                                          </p:spTgt>
                                        </p:tgtEl>
                                      </p:cBhvr>
                                    </p:animEffect>
                                    <p:anim calcmode="lin" valueType="num">
                                      <p:cBhvr>
                                        <p:cTn id="6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Effect transition="in" filter="fade">
                                      <p:cBhvr>
                                        <p:cTn id="67" dur="1000"/>
                                        <p:tgtEl>
                                          <p:spTgt spid="3">
                                            <p:txEl>
                                              <p:pRg st="10" end="10"/>
                                            </p:txEl>
                                          </p:spTgt>
                                        </p:tgtEl>
                                      </p:cBhvr>
                                    </p:animEffect>
                                    <p:anim calcmode="lin" valueType="num">
                                      <p:cBhvr>
                                        <p:cTn id="68"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
                                            <p:txEl>
                                              <p:pRg st="11" end="11"/>
                                            </p:txEl>
                                          </p:spTgt>
                                        </p:tgtEl>
                                        <p:attrNameLst>
                                          <p:attrName>style.visibility</p:attrName>
                                        </p:attrNameLst>
                                      </p:cBhvr>
                                      <p:to>
                                        <p:strVal val="visible"/>
                                      </p:to>
                                    </p:set>
                                    <p:animEffect transition="in" filter="fade">
                                      <p:cBhvr>
                                        <p:cTn id="72" dur="1000"/>
                                        <p:tgtEl>
                                          <p:spTgt spid="3">
                                            <p:txEl>
                                              <p:pRg st="11" end="11"/>
                                            </p:txEl>
                                          </p:spTgt>
                                        </p:tgtEl>
                                      </p:cBhvr>
                                    </p:animEffect>
                                    <p:anim calcmode="lin" valueType="num">
                                      <p:cBhvr>
                                        <p:cTn id="7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74"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3">
                                            <p:txEl>
                                              <p:pRg st="12" end="12"/>
                                            </p:txEl>
                                          </p:spTgt>
                                        </p:tgtEl>
                                        <p:attrNameLst>
                                          <p:attrName>style.visibility</p:attrName>
                                        </p:attrNameLst>
                                      </p:cBhvr>
                                      <p:to>
                                        <p:strVal val="visible"/>
                                      </p:to>
                                    </p:set>
                                    <p:animEffect transition="in" filter="fade">
                                      <p:cBhvr>
                                        <p:cTn id="77" dur="1000"/>
                                        <p:tgtEl>
                                          <p:spTgt spid="3">
                                            <p:txEl>
                                              <p:pRg st="12" end="12"/>
                                            </p:txEl>
                                          </p:spTgt>
                                        </p:tgtEl>
                                      </p:cBhvr>
                                    </p:animEffect>
                                    <p:anim calcmode="lin" valueType="num">
                                      <p:cBhvr>
                                        <p:cTn id="7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79"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63661-4BEF-36D7-1DA6-97D28F3D90F3}"/>
              </a:ext>
            </a:extLst>
          </p:cNvPr>
          <p:cNvSpPr>
            <a:spLocks noGrp="1"/>
          </p:cNvSpPr>
          <p:nvPr>
            <p:ph type="title"/>
          </p:nvPr>
        </p:nvSpPr>
        <p:spPr/>
        <p:txBody>
          <a:bodyPr/>
          <a:lstStyle/>
          <a:p>
            <a:r>
              <a:rPr lang="en-US" dirty="0"/>
              <a:t>Supervised Methods (Embedded)</a:t>
            </a:r>
          </a:p>
        </p:txBody>
      </p:sp>
      <p:sp>
        <p:nvSpPr>
          <p:cNvPr id="3" name="Content Placeholder 2">
            <a:extLst>
              <a:ext uri="{FF2B5EF4-FFF2-40B4-BE49-F238E27FC236}">
                <a16:creationId xmlns:a16="http://schemas.microsoft.com/office/drawing/2014/main" id="{4837D27F-5826-BC1E-9F2A-F1B761569E4F}"/>
              </a:ext>
            </a:extLst>
          </p:cNvPr>
          <p:cNvSpPr>
            <a:spLocks noGrp="1"/>
          </p:cNvSpPr>
          <p:nvPr>
            <p:ph idx="1"/>
          </p:nvPr>
        </p:nvSpPr>
        <p:spPr/>
        <p:txBody>
          <a:bodyPr/>
          <a:lstStyle/>
          <a:p>
            <a:r>
              <a:rPr lang="en-US" dirty="0"/>
              <a:t>Lasso / Elastic Net</a:t>
            </a:r>
          </a:p>
          <a:p>
            <a:pPr lvl="1">
              <a:buFont typeface="Wingdings" pitchFamily="2" charset="2"/>
              <a:buChar char="§"/>
            </a:pPr>
            <a:r>
              <a:rPr lang="en-US" dirty="0"/>
              <a:t>Linear / Logistic Regression</a:t>
            </a:r>
          </a:p>
          <a:p>
            <a:pPr lvl="1">
              <a:buFont typeface="Wingdings" pitchFamily="2" charset="2"/>
              <a:buChar char="§"/>
            </a:pPr>
            <a:r>
              <a:rPr lang="en-US" dirty="0"/>
              <a:t>Shrinks coefficients to zero if features are not important</a:t>
            </a:r>
          </a:p>
          <a:p>
            <a:pPr lvl="1">
              <a:buFont typeface="Wingdings" pitchFamily="2" charset="2"/>
              <a:buChar char="§"/>
            </a:pPr>
            <a:r>
              <a:rPr lang="el-GR" dirty="0"/>
              <a:t>λ</a:t>
            </a:r>
            <a:r>
              <a:rPr lang="en-US" dirty="0"/>
              <a:t>1,</a:t>
            </a:r>
            <a:r>
              <a:rPr lang="el-GR" dirty="0"/>
              <a:t> λ</a:t>
            </a:r>
            <a:r>
              <a:rPr lang="en-US" dirty="0"/>
              <a:t>2</a:t>
            </a:r>
            <a:r>
              <a:rPr lang="el-GR" dirty="0"/>
              <a:t> </a:t>
            </a:r>
            <a:r>
              <a:rPr lang="en-US" dirty="0"/>
              <a:t>parameters controls the amount of shrinkage</a:t>
            </a:r>
          </a:p>
          <a:p>
            <a:pPr lvl="1">
              <a:buFont typeface="Wingdings" pitchFamily="2" charset="2"/>
              <a:buChar char="§"/>
            </a:pPr>
            <a:r>
              <a:rPr lang="en-US" dirty="0"/>
              <a:t>When correlated features, Elastic Net is more stable </a:t>
            </a:r>
          </a:p>
          <a:p>
            <a:r>
              <a:rPr lang="en-US" dirty="0"/>
              <a:t>Tree Based Models</a:t>
            </a:r>
          </a:p>
          <a:p>
            <a:pPr lvl="1">
              <a:buFont typeface="Wingdings" pitchFamily="2" charset="2"/>
              <a:buChar char="§"/>
            </a:pPr>
            <a:r>
              <a:rPr lang="en-US" dirty="0"/>
              <a:t>Decision Tree / Random Forest – Gini Impurity, Entropy</a:t>
            </a:r>
          </a:p>
          <a:p>
            <a:pPr lvl="1">
              <a:buFont typeface="Wingdings" pitchFamily="2" charset="2"/>
              <a:buChar char="§"/>
            </a:pPr>
            <a:r>
              <a:rPr lang="en-US" dirty="0"/>
              <a:t>LGBM / </a:t>
            </a:r>
            <a:r>
              <a:rPr lang="en-US" dirty="0" err="1"/>
              <a:t>XGBoost</a:t>
            </a:r>
            <a:r>
              <a:rPr lang="en-US" dirty="0"/>
              <a:t> – Gain</a:t>
            </a:r>
          </a:p>
          <a:p>
            <a:pPr lvl="1">
              <a:buFont typeface="Wingdings" pitchFamily="2" charset="2"/>
              <a:buChar char="§"/>
            </a:pPr>
            <a:endParaRPr lang="en-US" dirty="0"/>
          </a:p>
        </p:txBody>
      </p:sp>
    </p:spTree>
    <p:extLst>
      <p:ext uri="{BB962C8B-B14F-4D97-AF65-F5344CB8AC3E}">
        <p14:creationId xmlns:p14="http://schemas.microsoft.com/office/powerpoint/2010/main" val="4171722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3">
                                            <p:txEl>
                                              <p:pRg st="7" end="7"/>
                                            </p:txEl>
                                          </p:spTgt>
                                        </p:tgtEl>
                                        <p:attrNameLst>
                                          <p:attrName>style.visibility</p:attrName>
                                        </p:attrNameLst>
                                      </p:cBhvr>
                                      <p:to>
                                        <p:strVal val="visible"/>
                                      </p:to>
                                    </p:set>
                                    <p:animEffect transition="in" filter="fade">
                                      <p:cBhvr>
                                        <p:cTn id="48" dur="1000"/>
                                        <p:tgtEl>
                                          <p:spTgt spid="3">
                                            <p:txEl>
                                              <p:pRg st="7" end="7"/>
                                            </p:txEl>
                                          </p:spTgt>
                                        </p:tgtEl>
                                      </p:cBhvr>
                                    </p:animEffect>
                                    <p:anim calcmode="lin" valueType="num">
                                      <p:cBhvr>
                                        <p:cTn id="4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2E020-825A-423A-0383-694739A88BE9}"/>
              </a:ext>
            </a:extLst>
          </p:cNvPr>
          <p:cNvSpPr>
            <a:spLocks noGrp="1"/>
          </p:cNvSpPr>
          <p:nvPr>
            <p:ph type="title"/>
          </p:nvPr>
        </p:nvSpPr>
        <p:spPr/>
        <p:txBody>
          <a:bodyPr/>
          <a:lstStyle/>
          <a:p>
            <a:r>
              <a:rPr lang="en-US" dirty="0"/>
              <a:t>BORUTA</a:t>
            </a:r>
          </a:p>
        </p:txBody>
      </p:sp>
      <p:sp>
        <p:nvSpPr>
          <p:cNvPr id="3" name="Content Placeholder 2">
            <a:extLst>
              <a:ext uri="{FF2B5EF4-FFF2-40B4-BE49-F238E27FC236}">
                <a16:creationId xmlns:a16="http://schemas.microsoft.com/office/drawing/2014/main" id="{C9E26779-D8C7-4005-3EDA-FA0AE16C1297}"/>
              </a:ext>
            </a:extLst>
          </p:cNvPr>
          <p:cNvSpPr>
            <a:spLocks noGrp="1"/>
          </p:cNvSpPr>
          <p:nvPr>
            <p:ph idx="1"/>
          </p:nvPr>
        </p:nvSpPr>
        <p:spPr/>
        <p:txBody>
          <a:bodyPr>
            <a:normAutofit/>
          </a:bodyPr>
          <a:lstStyle/>
          <a:p>
            <a:r>
              <a:rPr lang="en-US" dirty="0"/>
              <a:t>All relevant feature method, feature selected if it outperforms the noise</a:t>
            </a:r>
          </a:p>
          <a:p>
            <a:r>
              <a:rPr lang="en-US" dirty="0"/>
              <a:t>Wrapper method, Test different subsets of features, Model specific</a:t>
            </a:r>
          </a:p>
          <a:p>
            <a:r>
              <a:rPr lang="en-US" dirty="0"/>
              <a:t>Mathematically sound algorithm</a:t>
            </a:r>
          </a:p>
          <a:p>
            <a:pPr lvl="1">
              <a:buFont typeface="Wingdings" pitchFamily="2" charset="2"/>
              <a:buChar char="§"/>
            </a:pPr>
            <a:r>
              <a:rPr lang="en-US" dirty="0"/>
              <a:t>Tests multiple iterations</a:t>
            </a:r>
          </a:p>
          <a:p>
            <a:pPr lvl="1">
              <a:buFont typeface="Wingdings" pitchFamily="2" charset="2"/>
              <a:buChar char="§"/>
            </a:pPr>
            <a:r>
              <a:rPr lang="en-US" dirty="0"/>
              <a:t>Use p-value from Binomial distribution to statistically decide to accept or reject the feature </a:t>
            </a:r>
          </a:p>
          <a:p>
            <a:pPr lvl="1">
              <a:buFont typeface="Wingdings" pitchFamily="2" charset="2"/>
              <a:buChar char="§"/>
            </a:pPr>
            <a:r>
              <a:rPr lang="en-US" dirty="0"/>
              <a:t>A feature is selected if it consistently outperforms the noise and rejected if it fails</a:t>
            </a:r>
          </a:p>
        </p:txBody>
      </p:sp>
    </p:spTree>
    <p:extLst>
      <p:ext uri="{BB962C8B-B14F-4D97-AF65-F5344CB8AC3E}">
        <p14:creationId xmlns:p14="http://schemas.microsoft.com/office/powerpoint/2010/main" val="49078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F0530-347C-FB59-6F26-73C07B029FD2}"/>
              </a:ext>
            </a:extLst>
          </p:cNvPr>
          <p:cNvSpPr>
            <a:spLocks noGrp="1"/>
          </p:cNvSpPr>
          <p:nvPr>
            <p:ph type="title"/>
          </p:nvPr>
        </p:nvSpPr>
        <p:spPr/>
        <p:txBody>
          <a:bodyPr/>
          <a:lstStyle/>
          <a:p>
            <a:r>
              <a:rPr lang="en-US" dirty="0"/>
              <a:t>BORUTA</a:t>
            </a:r>
          </a:p>
        </p:txBody>
      </p:sp>
      <p:sp>
        <p:nvSpPr>
          <p:cNvPr id="3" name="Content Placeholder 2">
            <a:extLst>
              <a:ext uri="{FF2B5EF4-FFF2-40B4-BE49-F238E27FC236}">
                <a16:creationId xmlns:a16="http://schemas.microsoft.com/office/drawing/2014/main" id="{03685F33-BDEA-89D3-0CE1-7B4C15660AAE}"/>
              </a:ext>
            </a:extLst>
          </p:cNvPr>
          <p:cNvSpPr>
            <a:spLocks noGrp="1"/>
          </p:cNvSpPr>
          <p:nvPr>
            <p:ph idx="1"/>
          </p:nvPr>
        </p:nvSpPr>
        <p:spPr/>
        <p:txBody>
          <a:bodyPr>
            <a:normAutofit/>
          </a:bodyPr>
          <a:lstStyle/>
          <a:p>
            <a:r>
              <a:rPr lang="en-US" dirty="0"/>
              <a:t>Algorithm:</a:t>
            </a:r>
          </a:p>
          <a:p>
            <a:pPr lvl="1">
              <a:buFont typeface="Wingdings" pitchFamily="2" charset="2"/>
              <a:buChar char="§"/>
            </a:pPr>
            <a:r>
              <a:rPr lang="en-US" dirty="0"/>
              <a:t>Create shadow features (noise)</a:t>
            </a:r>
          </a:p>
          <a:p>
            <a:pPr lvl="1">
              <a:buFont typeface="Wingdings" pitchFamily="2" charset="2"/>
              <a:buChar char="§"/>
            </a:pPr>
            <a:r>
              <a:rPr lang="en-US" dirty="0"/>
              <a:t>Train a random forest model using both original and shadow features and measure feature importances</a:t>
            </a:r>
          </a:p>
          <a:p>
            <a:pPr lvl="1">
              <a:buFont typeface="Wingdings" pitchFamily="2" charset="2"/>
              <a:buChar char="§"/>
            </a:pPr>
            <a:r>
              <a:rPr lang="en-US" dirty="0"/>
              <a:t>Select maximum shadow feature importance as benchmark threshold</a:t>
            </a:r>
          </a:p>
          <a:p>
            <a:pPr lvl="1">
              <a:buFont typeface="Wingdings" pitchFamily="2" charset="2"/>
              <a:buChar char="§"/>
            </a:pPr>
            <a:r>
              <a:rPr lang="en-US" dirty="0"/>
              <a:t>Hit – when feature outperforms the benchmark</a:t>
            </a:r>
          </a:p>
          <a:p>
            <a:pPr lvl="1">
              <a:buFont typeface="Wingdings" pitchFamily="2" charset="2"/>
              <a:buChar char="§"/>
            </a:pPr>
            <a:r>
              <a:rPr lang="en-US" dirty="0"/>
              <a:t>Runs several iterations and tracks cumulative no. of hits </a:t>
            </a:r>
          </a:p>
          <a:p>
            <a:pPr lvl="1">
              <a:buFont typeface="Wingdings" pitchFamily="2" charset="2"/>
              <a:buChar char="§"/>
            </a:pPr>
            <a:r>
              <a:rPr lang="en-US" dirty="0"/>
              <a:t>In each iteration, compute p-value using Binomial distribution to statistically accept or reject features that consistently outperforms or fails the benchmark</a:t>
            </a:r>
          </a:p>
          <a:p>
            <a:pPr lvl="1">
              <a:buFont typeface="Wingdings" pitchFamily="2" charset="2"/>
              <a:buChar char="§"/>
            </a:pPr>
            <a:r>
              <a:rPr lang="en-US" dirty="0"/>
              <a:t>Stops if reached maximum iterations or all the features are accepted/rejected</a:t>
            </a:r>
          </a:p>
        </p:txBody>
      </p:sp>
    </p:spTree>
    <p:extLst>
      <p:ext uri="{BB962C8B-B14F-4D97-AF65-F5344CB8AC3E}">
        <p14:creationId xmlns:p14="http://schemas.microsoft.com/office/powerpoint/2010/main" val="105641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DCFE-23EF-41CB-D194-9FA21E382781}"/>
              </a:ext>
            </a:extLst>
          </p:cNvPr>
          <p:cNvSpPr>
            <a:spLocks noGrp="1"/>
          </p:cNvSpPr>
          <p:nvPr>
            <p:ph type="title"/>
          </p:nvPr>
        </p:nvSpPr>
        <p:spPr/>
        <p:txBody>
          <a:bodyPr/>
          <a:lstStyle/>
          <a:p>
            <a:r>
              <a:rPr lang="en-US" dirty="0"/>
              <a:t>BORUTA</a:t>
            </a:r>
          </a:p>
        </p:txBody>
      </p:sp>
      <p:sp>
        <p:nvSpPr>
          <p:cNvPr id="3" name="Content Placeholder 2">
            <a:extLst>
              <a:ext uri="{FF2B5EF4-FFF2-40B4-BE49-F238E27FC236}">
                <a16:creationId xmlns:a16="http://schemas.microsoft.com/office/drawing/2014/main" id="{8C114C9C-39EC-E89C-0A73-9E3F1DF36548}"/>
              </a:ext>
            </a:extLst>
          </p:cNvPr>
          <p:cNvSpPr>
            <a:spLocks noGrp="1"/>
          </p:cNvSpPr>
          <p:nvPr>
            <p:ph idx="1"/>
          </p:nvPr>
        </p:nvSpPr>
        <p:spPr/>
        <p:txBody>
          <a:bodyPr/>
          <a:lstStyle/>
          <a:p>
            <a:r>
              <a:rPr lang="en-US" dirty="0"/>
              <a:t>Python Library – </a:t>
            </a:r>
            <a:r>
              <a:rPr lang="en-US" dirty="0" err="1"/>
              <a:t>BorutaPy</a:t>
            </a:r>
            <a:endParaRPr lang="en-US" dirty="0"/>
          </a:p>
          <a:p>
            <a:r>
              <a:rPr lang="en-US" dirty="0"/>
              <a:t>Parameters:</a:t>
            </a:r>
          </a:p>
          <a:p>
            <a:pPr lvl="1">
              <a:buFont typeface="Wingdings" pitchFamily="2" charset="2"/>
              <a:buChar char="§"/>
            </a:pPr>
            <a:r>
              <a:rPr lang="en-US" dirty="0"/>
              <a:t>Estimator – any tree-based model with inherent feature importance</a:t>
            </a:r>
          </a:p>
          <a:p>
            <a:pPr lvl="1">
              <a:buFont typeface="Wingdings" pitchFamily="2" charset="2"/>
              <a:buChar char="§"/>
            </a:pPr>
            <a:r>
              <a:rPr lang="en-US" dirty="0"/>
              <a:t>Percentile – to decide the benchmark threshold</a:t>
            </a:r>
          </a:p>
          <a:p>
            <a:pPr lvl="1">
              <a:buFont typeface="Wingdings" pitchFamily="2" charset="2"/>
              <a:buChar char="§"/>
            </a:pPr>
            <a:r>
              <a:rPr lang="en-US" dirty="0"/>
              <a:t>alpha – FDR/significance level, adjusted based on iteration count  </a:t>
            </a:r>
          </a:p>
          <a:p>
            <a:pPr lvl="1">
              <a:buFont typeface="Wingdings" pitchFamily="2" charset="2"/>
              <a:buChar char="§"/>
            </a:pPr>
            <a:r>
              <a:rPr lang="en-US" dirty="0"/>
              <a:t>two step correction – opt for less conservative algo </a:t>
            </a:r>
          </a:p>
          <a:p>
            <a:endParaRPr lang="en-US" dirty="0"/>
          </a:p>
        </p:txBody>
      </p:sp>
    </p:spTree>
    <p:extLst>
      <p:ext uri="{BB962C8B-B14F-4D97-AF65-F5344CB8AC3E}">
        <p14:creationId xmlns:p14="http://schemas.microsoft.com/office/powerpoint/2010/main" val="191106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9E561-7071-929A-1C96-27CFBDFDEDA4}"/>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072A4688-C64B-C143-E39C-1813049B0B46}"/>
              </a:ext>
            </a:extLst>
          </p:cNvPr>
          <p:cNvSpPr>
            <a:spLocks noGrp="1"/>
          </p:cNvSpPr>
          <p:nvPr>
            <p:ph idx="1"/>
          </p:nvPr>
        </p:nvSpPr>
        <p:spPr/>
        <p:txBody>
          <a:bodyPr>
            <a:normAutofit lnSpcReduction="10000"/>
          </a:bodyPr>
          <a:lstStyle/>
          <a:p>
            <a:r>
              <a:rPr lang="en-US" dirty="0"/>
              <a:t>We can try different feature selection techniques depending on</a:t>
            </a:r>
          </a:p>
          <a:p>
            <a:pPr lvl="1">
              <a:buFont typeface="Wingdings" pitchFamily="2" charset="2"/>
              <a:buChar char="§"/>
            </a:pPr>
            <a:r>
              <a:rPr lang="en-US" dirty="0"/>
              <a:t>Size of the dataset</a:t>
            </a:r>
          </a:p>
          <a:p>
            <a:pPr lvl="1">
              <a:buFont typeface="Wingdings" pitchFamily="2" charset="2"/>
              <a:buChar char="§"/>
            </a:pPr>
            <a:r>
              <a:rPr lang="en-US" dirty="0" err="1"/>
              <a:t>Usecase</a:t>
            </a:r>
            <a:endParaRPr lang="en-US" dirty="0"/>
          </a:p>
          <a:p>
            <a:pPr lvl="1">
              <a:buFont typeface="Wingdings" pitchFamily="2" charset="2"/>
              <a:buChar char="§"/>
            </a:pPr>
            <a:r>
              <a:rPr lang="en-US" dirty="0"/>
              <a:t>Feature Type</a:t>
            </a:r>
          </a:p>
          <a:p>
            <a:pPr lvl="1">
              <a:buFont typeface="Wingdings" pitchFamily="2" charset="2"/>
              <a:buChar char="§"/>
            </a:pPr>
            <a:r>
              <a:rPr lang="en-US" dirty="0"/>
              <a:t>Feature Distribution</a:t>
            </a:r>
          </a:p>
          <a:p>
            <a:pPr lvl="1">
              <a:buFont typeface="Wingdings" pitchFamily="2" charset="2"/>
              <a:buChar char="§"/>
            </a:pPr>
            <a:r>
              <a:rPr lang="en-US" dirty="0"/>
              <a:t>Algorithm we want to use</a:t>
            </a:r>
          </a:p>
          <a:p>
            <a:pPr lvl="1">
              <a:buFont typeface="Wingdings" pitchFamily="2" charset="2"/>
              <a:buChar char="§"/>
            </a:pPr>
            <a:r>
              <a:rPr lang="en-US" dirty="0"/>
              <a:t>Patterns in the data</a:t>
            </a:r>
          </a:p>
          <a:p>
            <a:r>
              <a:rPr lang="en-US" dirty="0"/>
              <a:t>Multistep approach</a:t>
            </a:r>
          </a:p>
          <a:p>
            <a:r>
              <a:rPr lang="en-US" dirty="0"/>
              <a:t>Also, we can experiment multiple techniques and compare their results to finalize the list of features</a:t>
            </a:r>
          </a:p>
          <a:p>
            <a:r>
              <a:rPr lang="en-US" dirty="0"/>
              <a:t>Always know your most important features</a:t>
            </a:r>
          </a:p>
        </p:txBody>
      </p:sp>
    </p:spTree>
    <p:extLst>
      <p:ext uri="{BB962C8B-B14F-4D97-AF65-F5344CB8AC3E}">
        <p14:creationId xmlns:p14="http://schemas.microsoft.com/office/powerpoint/2010/main" val="1202556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1000"/>
                                        <p:tgtEl>
                                          <p:spTgt spid="3">
                                            <p:txEl>
                                              <p:pRg st="6" end="6"/>
                                            </p:txEl>
                                          </p:spTgt>
                                        </p:tgtEl>
                                      </p:cBhvr>
                                    </p:animEffect>
                                    <p:anim calcmode="lin" valueType="num">
                                      <p:cBhvr>
                                        <p:cTn id="4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1000"/>
                                        <p:tgtEl>
                                          <p:spTgt spid="3">
                                            <p:txEl>
                                              <p:pRg st="7" end="7"/>
                                            </p:txEl>
                                          </p:spTgt>
                                        </p:tgtEl>
                                      </p:cBhvr>
                                    </p:animEffect>
                                    <p:anim calcmode="lin" valueType="num">
                                      <p:cBhvr>
                                        <p:cTn id="4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3">
                                            <p:txEl>
                                              <p:pRg st="8" end="8"/>
                                            </p:txEl>
                                          </p:spTgt>
                                        </p:tgtEl>
                                        <p:attrNameLst>
                                          <p:attrName>style.visibility</p:attrName>
                                        </p:attrNameLst>
                                      </p:cBhvr>
                                      <p:to>
                                        <p:strVal val="visible"/>
                                      </p:to>
                                    </p:set>
                                    <p:animEffect transition="in" filter="fade">
                                      <p:cBhvr>
                                        <p:cTn id="53" dur="1000"/>
                                        <p:tgtEl>
                                          <p:spTgt spid="3">
                                            <p:txEl>
                                              <p:pRg st="8" end="8"/>
                                            </p:txEl>
                                          </p:spTgt>
                                        </p:tgtEl>
                                      </p:cBhvr>
                                    </p:animEffect>
                                    <p:anim calcmode="lin" valueType="num">
                                      <p:cBhvr>
                                        <p:cTn id="5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3">
                                            <p:txEl>
                                              <p:pRg st="9" end="9"/>
                                            </p:txEl>
                                          </p:spTgt>
                                        </p:tgtEl>
                                        <p:attrNameLst>
                                          <p:attrName>style.visibility</p:attrName>
                                        </p:attrNameLst>
                                      </p:cBhvr>
                                      <p:to>
                                        <p:strVal val="visible"/>
                                      </p:to>
                                    </p:set>
                                    <p:animEffect transition="in" filter="fade">
                                      <p:cBhvr>
                                        <p:cTn id="60" dur="1000"/>
                                        <p:tgtEl>
                                          <p:spTgt spid="3">
                                            <p:txEl>
                                              <p:pRg st="9" end="9"/>
                                            </p:txEl>
                                          </p:spTgt>
                                        </p:tgtEl>
                                      </p:cBhvr>
                                    </p:animEffect>
                                    <p:anim calcmode="lin" valueType="num">
                                      <p:cBhvr>
                                        <p:cTn id="6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CE733-0FCA-D9F1-F90C-8058A30E65DF}"/>
              </a:ext>
            </a:extLst>
          </p:cNvPr>
          <p:cNvSpPr>
            <a:spLocks noGrp="1"/>
          </p:cNvSpPr>
          <p:nvPr>
            <p:ph type="ctrTitle"/>
          </p:nvPr>
        </p:nvSpPr>
        <p:spPr/>
        <p:txBody>
          <a:bodyPr/>
          <a:lstStyle/>
          <a:p>
            <a:r>
              <a:rPr lang="en-US" dirty="0"/>
              <a:t>Thank you for your time!</a:t>
            </a:r>
          </a:p>
        </p:txBody>
      </p:sp>
      <p:sp>
        <p:nvSpPr>
          <p:cNvPr id="3" name="Subtitle 2">
            <a:extLst>
              <a:ext uri="{FF2B5EF4-FFF2-40B4-BE49-F238E27FC236}">
                <a16:creationId xmlns:a16="http://schemas.microsoft.com/office/drawing/2014/main" id="{A41D4A4A-74B3-E1D5-F654-A9035E9670A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30647700"/>
      </p:ext>
    </p:extLst>
  </p:cSld>
  <p:clrMapOvr>
    <a:masterClrMapping/>
  </p:clrMapOvr>
</p:sld>
</file>

<file path=ppt/theme/theme1.xml><?xml version="1.0" encoding="utf-8"?>
<a:theme xmlns:a="http://schemas.openxmlformats.org/drawingml/2006/main" name="Office Theme [1784919967107]">
  <a:themeElements>
    <a:clrScheme name="Office">
      <a:dk1>
        <a:srgbClr val="1A1A1A"/>
      </a:dk1>
      <a:lt1>
        <a:srgbClr val="FFFFFF"/>
      </a:lt1>
      <a:dk2>
        <a:srgbClr val="2C3E50"/>
      </a:dk2>
      <a:lt2>
        <a:srgbClr val="F4F1EA"/>
      </a:lt2>
      <a:accent1>
        <a:srgbClr val="0F9D8B"/>
      </a:accent1>
      <a:accent2>
        <a:srgbClr val="2C3E50"/>
      </a:accent2>
      <a:accent3>
        <a:srgbClr val="7FD8CE"/>
      </a:accent3>
      <a:accent4>
        <a:srgbClr val="E76F51"/>
      </a:accent4>
      <a:accent5>
        <a:srgbClr val="8D99AE"/>
      </a:accent5>
      <a:accent6>
        <a:srgbClr val="3A3A3A"/>
      </a:accent6>
      <a:hlink>
        <a:srgbClr val="467886"/>
      </a:hlink>
      <a:folHlink>
        <a:srgbClr val="96607D"/>
      </a:folHlink>
    </a:clrScheme>
    <a:fontScheme name="Office">
      <a:majorFont>
        <a:latin typeface="Montserra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ource Sans Pro"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2881154-86D1-924F-950E-8B1C5E1B2ED5}">
  <we:reference id="f5f369e5-aa35-49d7-ad7b-638152ddb008" version="1.0.0.1" store="EXCatalog" storeType="EXCatalog"/>
  <we:alternateReferences>
    <we:reference id="WA200010001" version="1.0.0.1" store="en-US" storeType="OMEX"/>
  </we:alternateReferences>
  <we:properties>
    <we:property name="claude.fileId" value="&quot;8af95d23-ee2f-471c-993d-39099ef2488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4154</TotalTime>
  <Words>1588</Words>
  <Application>Microsoft Macintosh PowerPoint</Application>
  <PresentationFormat>Widescreen</PresentationFormat>
  <Paragraphs>187</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Montserrat</vt:lpstr>
      <vt:lpstr>Source Sans Pro</vt:lpstr>
      <vt:lpstr>Wingdings</vt:lpstr>
      <vt:lpstr>Office Theme [1784919967107]</vt:lpstr>
      <vt:lpstr>Feature Selection</vt:lpstr>
      <vt:lpstr>Agenda</vt:lpstr>
      <vt:lpstr>Why Feature Selection?</vt:lpstr>
      <vt:lpstr>Before Feature Selection Algos</vt:lpstr>
      <vt:lpstr>Before Feature Selection Algos</vt:lpstr>
      <vt:lpstr>Unsupervised Methods</vt:lpstr>
      <vt:lpstr>Unsupervised Methods</vt:lpstr>
      <vt:lpstr>Supervised Methods (Filter)</vt:lpstr>
      <vt:lpstr>Supervised Methods (Wrapper)</vt:lpstr>
      <vt:lpstr>Supervised Methods (Embedded)</vt:lpstr>
      <vt:lpstr>BORUTA</vt:lpstr>
      <vt:lpstr>BORUTA</vt:lpstr>
      <vt:lpstr>BORUTA</vt:lpstr>
      <vt:lpstr>Conclusion</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Hridaya Saboo (CW)</dc:creator>
  <cp:lastModifiedBy>Hridaya Saboo (CW)</cp:lastModifiedBy>
  <cp:revision>128</cp:revision>
  <dcterms:created xsi:type="dcterms:W3CDTF">2026-07-15T16:47:02Z</dcterms:created>
  <dcterms:modified xsi:type="dcterms:W3CDTF">2026-07-24T19:06:16Z</dcterms:modified>
</cp:coreProperties>
</file>